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../media/videos/PPO_V9_best_seed136505587_r936_clean.mp4" TargetMode="External"/><Relationship Id="rId4" Type="http://schemas.openxmlformats.org/officeDocument/2006/relationships/image" Target="../media/image6.png"/><Relationship Id="rId5" Type="http://schemas.openxmlformats.org/officeDocument/2006/relationships/hyperlink" Target="../media/videos/PPO_V9_worst_seed599310825_r911_clean.mp4" TargetMode="External"/><Relationship Id="rId6" Type="http://schemas.openxmlformats.org/officeDocument/2006/relationships/image" Target="../media/image7.png"/><Relationship Id="rId7" Type="http://schemas.openxmlformats.org/officeDocument/2006/relationships/hyperlink" Target="../media/videos/SAC_V11_1_best_seed136505587_r934_clean.mp4" TargetMode="External"/><Relationship Id="rId8" Type="http://schemas.openxmlformats.org/officeDocument/2006/relationships/image" Target="../media/image8.png"/><Relationship Id="rId9" Type="http://schemas.openxmlformats.org/officeDocument/2006/relationships/hyperlink" Target="../media/videos/SAC_V11_1_worst_seed599310825_r909_clean.mp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Image Processing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142439"/>
                </a:solidFill>
                <a:latin typeface="Aptos"/>
              </a:defRPr>
            </a:pPr>
            <a:r>
              <a:t>Feature-Based Image Processing and Reinforcement Learning for CarRacing-v3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3327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0">
                <a:solidFill>
                  <a:srgbClr val="262D34"/>
                </a:solidFill>
                <a:latin typeface="Aptos"/>
              </a:defRPr>
            </a:pPr>
            <a:r>
              <a:t>Main contribution: image-processing-derived compact visual feature 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103327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0">
                <a:solidFill>
                  <a:srgbClr val="262D34"/>
                </a:solidFill>
                <a:latin typeface="Aptos"/>
              </a:defRPr>
            </a:pPr>
            <a:r>
              <a:t>Downstream evaluation: PPO and SAC on Gymnasium CarRacing-v3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03327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785615"/>
            <a:ext cx="1000353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277754"/>
                </a:solidFill>
                <a:latin typeface="Aptos"/>
              </a:defRPr>
            </a:pPr>
            <a:r>
              <a:t>Final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133087"/>
            <a:ext cx="1000353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Report, slides, notebooks, logs, figures, tables, and demo videos. V2 is final-facing; V1 is archived history.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Problem and project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45336"/>
            <a:ext cx="497433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92808"/>
            <a:ext cx="4974336" cy="92354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Raw RGB driving observations mix visual interpretation and control. Training an end-to-end image policy is costly for a course-scale notebook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545336"/>
            <a:ext cx="497433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277754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892808"/>
            <a:ext cx="4974336" cy="92354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Extract compact road geometry from images, then test whether standard PPO/SAC policies can use those features to drive.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2412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000" b="1">
                <a:solidFill>
                  <a:srgbClr val="142439"/>
                </a:solidFill>
                <a:latin typeface="Aptos"/>
              </a:defRPr>
            </a:pPr>
            <a:r>
              <a:t>The project is evaluated with reinforcement learning, but the contribution is the visual feature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Why image processing?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45336"/>
            <a:ext cx="314553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Aptos"/>
              </a:defRPr>
            </a:pPr>
            <a:r>
              <a:t>Compact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92808"/>
            <a:ext cx="3145536" cy="69494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A small feature vector is easier to train on than a 96 x 96 x 3 image tensor.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74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45336"/>
            <a:ext cx="314553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277754"/>
                </a:solidFill>
                <a:latin typeface="Aptos"/>
              </a:defRPr>
            </a:pPr>
            <a:r>
              <a:t>Inspectable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92808"/>
            <a:ext cx="3145536" cy="69494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Road mask, ray distances, and radar-style summaries can be checked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545336"/>
            <a:ext cx="296265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A47423"/>
                </a:solidFill>
                <a:latin typeface="Aptos"/>
              </a:defRPr>
            </a:pPr>
            <a:r>
              <a:t>Course-scale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892808"/>
            <a:ext cx="2962656" cy="69494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The package can explain the visual representation without claiming a new RL algorithm.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78992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800" b="0">
                <a:solidFill>
                  <a:srgbClr val="262D34"/>
                </a:solidFill>
                <a:latin typeface="Aptos"/>
              </a:defRPr>
            </a:pPr>
            <a:r>
              <a:t>Design tradeoff: hand-engineered features improve interpretability and speed, but can fail when the mask or local geometry is misleading.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CarRacing-v3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4572000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Observation: rendered RGB frame</a:t>
            </a:r>
          </a:p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Action: continuous steering, gas, brake</a:t>
            </a:r>
          </a:p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Tracks: randomized across seeds</a:t>
            </a:r>
          </a:p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Evaluation: saved logs, CSV tables, notebooks, and visual demos</a:t>
            </a:r>
          </a:p>
        </p:txBody>
      </p:sp>
      <p:pic>
        <p:nvPicPr>
          <p:cNvPr id="7" name="Picture 6" descr="generaliz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76756"/>
            <a:ext cx="5349240" cy="3127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166360"/>
            <a:ext cx="1060704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42439"/>
                </a:solidFill>
                <a:latin typeface="Aptos"/>
              </a:defRPr>
            </a:pPr>
            <a:r>
              <a:t>The final claim is about a tested evidence package, not a solved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Image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pic>
        <p:nvPicPr>
          <p:cNvPr id="6" name="Picture 5" descr="feature_pipeline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562" y="1325880"/>
            <a:ext cx="6466114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800600"/>
            <a:ext cx="1060704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42439"/>
                </a:solidFill>
                <a:latin typeface="Aptos"/>
              </a:defRPr>
            </a:pPr>
            <a:r>
              <a:t>RGB frame -&gt; crop/preprocess -&gt; HSV road mask -&gt; ray/radar features -&gt; stacked observation -&gt; PPO/SAC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21808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600" b="0">
                <a:solidFill>
                  <a:srgbClr val="262D34"/>
                </a:solidFill>
                <a:latin typeface="Aptos"/>
              </a:defRPr>
            </a:pPr>
            <a:r>
              <a:t>The policy sees compact geometry, not raw pixels.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FEATURE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Compact feature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661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45336"/>
            <a:ext cx="323697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Aptos"/>
              </a:defRPr>
            </a:pPr>
            <a:r>
              <a:t>Road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92808"/>
            <a:ext cx="3236976" cy="7132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HSV-based preprocessing separates road-like structure from background regions.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5661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45336"/>
            <a:ext cx="323697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277754"/>
                </a:solidFill>
                <a:latin typeface="Aptos"/>
              </a:defRPr>
            </a:pPr>
            <a:r>
              <a:t>Ray/radar cues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92808"/>
            <a:ext cx="3236976" cy="7132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Forward-biased distances summarize local drivable geometry.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545336"/>
            <a:ext cx="300837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A47423"/>
                </a:solidFill>
                <a:latin typeface="Aptos"/>
              </a:defRPr>
            </a:pPr>
            <a:r>
              <a:t>Stacked 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892808"/>
            <a:ext cx="3008376" cy="7132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Short-term context is carried through stacked compact features.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49039"/>
            <a:ext cx="1078992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800" b="0">
                <a:solidFill>
                  <a:srgbClr val="262D34"/>
                </a:solidFill>
                <a:latin typeface="Aptos"/>
              </a:defRPr>
            </a:pPr>
            <a:r>
              <a:t>The representation is deliberately inspectable: failures can be related back to mask quality, local geometry, and recovery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PPO baseline (V9)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75488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Completed 500K baseline</a:t>
            </a:r>
          </a:p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Final eval @500K: 938.87 +/- 7.86</a:t>
            </a:r>
          </a:p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Best parsed eval: 939.53 +/- 4.09 @ 480,000</a:t>
            </a:r>
          </a:p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Last observed step: 501,760</a:t>
            </a:r>
          </a:p>
        </p:txBody>
      </p:sp>
      <p:pic>
        <p:nvPicPr>
          <p:cNvPr id="7" name="Picture 6" descr="training_curve_ppo_s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88744"/>
            <a:ext cx="5440680" cy="3303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074920"/>
            <a:ext cx="1078992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500" b="0">
                <a:solidFill>
                  <a:srgbClr val="262D34"/>
                </a:solidFill>
                <a:latin typeface="Aptos"/>
              </a:defRPr>
            </a:pPr>
            <a:r>
              <a:t>Evidence source: V2 result summary, PPO log, and CSV checkpoint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SAC fast-result branch (V11.1)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749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Partial 400K best-checkpoint / fast-result branch</a:t>
            </a:r>
          </a:p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Validated eval @400K: 938.51 +/- 4.88</a:t>
            </a:r>
          </a:p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Last observed step: 418,697</a:t>
            </a:r>
          </a:p>
          <a:p>
            <a:pPr>
              <a:spcAft>
                <a:spcPts val="6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- No validated eval checkpoint after 400K</a:t>
            </a:r>
          </a:p>
        </p:txBody>
      </p:sp>
      <p:pic>
        <p:nvPicPr>
          <p:cNvPr id="7" name="Picture 6" descr="checkpoi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44168"/>
            <a:ext cx="5212080" cy="3300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074920"/>
            <a:ext cx="107899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600" b="1">
                <a:solidFill>
                  <a:srgbClr val="142439"/>
                </a:solidFill>
                <a:latin typeface="Aptos"/>
              </a:defRPr>
            </a:pPr>
            <a:r>
              <a:t>SAC is not claimed to complete 500K, beat PPO, or provide a compute-equivalent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VISUAL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Demo videos and qualitative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pic>
        <p:nvPicPr>
          <p:cNvPr id="6" name="Picture 5" descr="PPO_V9_best_seed136505587_r936_clean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1417320"/>
            <a:ext cx="2293315" cy="1508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980944"/>
            <a:ext cx="260604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800" b="0">
                <a:solidFill>
                  <a:srgbClr val="262D34"/>
                </a:solidFill>
                <a:latin typeface="Aptos"/>
              </a:defRPr>
            </a:pPr>
            <a:r>
              <a:t>PPO higher-reward demo</a:t>
            </a:r>
          </a:p>
        </p:txBody>
      </p:sp>
      <p:pic>
        <p:nvPicPr>
          <p:cNvPr id="8" name="Picture 7" descr="PPO_V9_worst_seed599310825_r911_clean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02" y="1417320"/>
            <a:ext cx="2293315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20440" y="2980944"/>
            <a:ext cx="260604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800" b="0">
                <a:solidFill>
                  <a:srgbClr val="262D34"/>
                </a:solidFill>
                <a:latin typeface="Aptos"/>
              </a:defRPr>
            </a:pPr>
            <a:r>
              <a:t>PPO lower-reward demo</a:t>
            </a:r>
          </a:p>
        </p:txBody>
      </p:sp>
      <p:pic>
        <p:nvPicPr>
          <p:cNvPr id="10" name="Picture 9" descr="SAC_V11_1_best_seed136505587_r934_clean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442" y="1417320"/>
            <a:ext cx="2293315" cy="1508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2980944"/>
            <a:ext cx="260604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800" b="0">
                <a:solidFill>
                  <a:srgbClr val="262D34"/>
                </a:solidFill>
                <a:latin typeface="Aptos"/>
              </a:defRPr>
            </a:pPr>
            <a:r>
              <a:t>SAC higher-reward demo</a:t>
            </a:r>
          </a:p>
        </p:txBody>
      </p:sp>
      <p:pic>
        <p:nvPicPr>
          <p:cNvPr id="12" name="Picture 11" descr="SAC_V11_1_worst_seed599310825_r909_clean.pn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6082" y="1417320"/>
            <a:ext cx="2293315" cy="1508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89720" y="2980944"/>
            <a:ext cx="260604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defRPr sz="800" b="0">
                <a:solidFill>
                  <a:srgbClr val="262D34"/>
                </a:solidFill>
                <a:latin typeface="Aptos"/>
              </a:defRPr>
            </a:pPr>
            <a:r>
              <a:t>SAC lower-reward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1097280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600" b="1">
                <a:solidFill>
                  <a:srgbClr val="142439"/>
                </a:solidFill>
                <a:latin typeface="Aptos"/>
              </a:defRPr>
            </a:pPr>
            <a:r>
              <a:t>Videos are qualitative evidence extracted from notebook outputs. Quantitative claims come from logs and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1097280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0">
                <a:solidFill>
                  <a:srgbClr val="262D34"/>
                </a:solidFill>
                <a:latin typeface="Aptos"/>
              </a:defRPr>
            </a:pPr>
            <a:r>
              <a:t>See: media/videos/ and media/video_manifest.csv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78992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62D34"/>
                </a:solidFill>
                <a:latin typeface="Aptos"/>
              </a:defRPr>
            </a:pPr>
            <a:r>
              <a:t>- SAC is a partial 400K checkpoint branch, not a completed 500K run.</a:t>
            </a:r>
          </a:p>
          <a:p>
            <a:pPr>
              <a:spcAft>
                <a:spcPts val="600"/>
              </a:spcAft>
              <a:defRPr sz="1900">
                <a:solidFill>
                  <a:srgbClr val="262D34"/>
                </a:solidFill>
                <a:latin typeface="Aptos"/>
              </a:defRPr>
            </a:pPr>
            <a:r>
              <a:t>- PPO and SAC are not compute-equivalent.</a:t>
            </a:r>
          </a:p>
          <a:p>
            <a:pPr>
              <a:spcAft>
                <a:spcPts val="600"/>
              </a:spcAft>
              <a:defRPr sz="1900">
                <a:solidFill>
                  <a:srgbClr val="262D34"/>
                </a:solidFill>
                <a:latin typeface="Aptos"/>
              </a:defRPr>
            </a:pPr>
            <a:r>
              <a:t>- No raw image-input CNN policy was trained in this V2 package.</a:t>
            </a:r>
          </a:p>
          <a:p>
            <a:pPr>
              <a:spcAft>
                <a:spcPts val="600"/>
              </a:spcAft>
              <a:defRPr sz="1900">
                <a:solidFill>
                  <a:srgbClr val="262D34"/>
                </a:solidFill>
                <a:latin typeface="Aptos"/>
              </a:defRPr>
            </a:pPr>
            <a:r>
              <a:t>- HSV-style preprocessing can be sensitive to visual changes.</a:t>
            </a:r>
          </a:p>
          <a:p>
            <a:pPr>
              <a:spcAft>
                <a:spcPts val="600"/>
              </a:spcAft>
              <a:defRPr sz="1900">
                <a:solidFill>
                  <a:srgbClr val="262D34"/>
                </a:solidFill>
                <a:latin typeface="Aptos"/>
              </a:defRPr>
            </a:pPr>
            <a:r>
              <a:t>- CarRacing-v3 is not claimed solved.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Reproducibility and GitHub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492861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Aptos"/>
              </a:defRPr>
            </a:pPr>
            <a:r>
              <a:t>Final V2 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92808"/>
            <a:ext cx="4928616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versions/2026-06-24-ppo-sac-feature-release/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545336"/>
            <a:ext cx="492861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277754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892808"/>
            <a:ext cx="4928616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logs/, tables/, notebooks/, figures/, media/videos/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10835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54096"/>
            <a:ext cx="10506456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A47423"/>
                </a:solidFill>
                <a:latin typeface="Aptos"/>
              </a:defRPr>
            </a:pPr>
            <a:r>
              <a:t>Final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401568"/>
            <a:ext cx="10506456" cy="6492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report/Image_Processing_Project_V2_IEEE_Report.*</a:t>
            </a:r>
          </a:p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slides/Image_Processing_Project_Final_Presentation.*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107899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600" b="1">
                <a:solidFill>
                  <a:srgbClr val="142439"/>
                </a:solidFill>
                <a:latin typeface="Aptos"/>
              </a:defRPr>
            </a:pPr>
            <a:r>
              <a:t>The repository should be manually renamed to Image-Processing-Project before sharing the final link.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38328"/>
            <a:ext cx="34747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1">
                <a:solidFill>
                  <a:srgbClr val="1F4E79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42439"/>
                </a:solidFill>
                <a:latin typeface="Aptos"/>
              </a:defRPr>
            </a:pPr>
            <a:r>
              <a:t>Conclusion and GitHub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800" b="0">
                <a:solidFill>
                  <a:srgbClr val="646C76"/>
                </a:solidFill>
                <a:latin typeface="Aptos"/>
              </a:defRPr>
            </a:pPr>
            <a:r>
              <a:t>Image Processing Project | Joe / 1103820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78992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000" b="1">
                <a:solidFill>
                  <a:srgbClr val="142439"/>
                </a:solidFill>
                <a:latin typeface="Aptos"/>
              </a:defRPr>
            </a:pPr>
            <a:r>
              <a:t>Image processing is the main contribution: compact road-mask and ray/radar features turn RGB frames into an interpretable policy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0789920" cy="8412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800" b="0">
                <a:solidFill>
                  <a:srgbClr val="262D34"/>
                </a:solidFill>
                <a:latin typeface="Aptos"/>
              </a:defRPr>
            </a:pPr>
            <a:r>
              <a:t>PPO baseline (V9): completed 500K, 938.87 +/- 7.86 @ 500,000</a:t>
            </a:r>
          </a:p>
          <a:p>
            <a:pPr>
              <a:defRPr sz="1800" b="0">
                <a:solidFill>
                  <a:srgbClr val="262D34"/>
                </a:solidFill>
                <a:latin typeface="Aptos"/>
              </a:defRPr>
            </a:pPr>
            <a:r>
              <a:t>SAC fast-result branch (V11.1): partial 400K checkpoint, 938.51 +/- 4.88 @ 400,000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1078992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900" b="1">
                <a:solidFill>
                  <a:srgbClr val="142439"/>
                </a:solidFill>
                <a:latin typeface="Aptos"/>
              </a:defRPr>
            </a:pPr>
            <a:r>
              <a:t>Final official repository after manual rename:</a:t>
            </a:r>
          </a:p>
          <a:p>
            <a:pPr>
              <a:defRPr sz="1900" b="1">
                <a:solidFill>
                  <a:srgbClr val="142439"/>
                </a:solidFill>
                <a:latin typeface="Aptos"/>
              </a:defRPr>
            </a:pPr>
            <a:r>
              <a:t>https://github.com/UltraLamb/Image-Processing-Project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1078992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262D34"/>
                </a:solidFill>
                <a:latin typeface="Aptos"/>
              </a:defRPr>
            </a:pPr>
            <a:r>
              <a:t>Current repository before rename: https://github.com/UltraLamb/CarRacingV3-PPO-RayFeatures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