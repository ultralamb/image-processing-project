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9e30d8d644b98" /><Relationship Type="http://schemas.openxmlformats.org/officeDocument/2006/relationships/extended-properties" Target="/docProps/app.xml" Id="R8a625b9f1722494b" /><Relationship Type="http://schemas.openxmlformats.org/officeDocument/2006/relationships/officeDocument" Target="/ppt/presentation.xml" Id="R9527c921be78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7a0c14d2a4c59"/>
  </p:sldMasterIdLst>
  <p:notesMasterIdLst>
    <p:notesMasterId xmlns:r="http://schemas.openxmlformats.org/officeDocument/2006/relationships" r:id="R5f2021877944415d"/>
  </p:notesMasterIdLst>
  <p:sldIdLst>
    <p:sldId xmlns:r="http://schemas.openxmlformats.org/officeDocument/2006/relationships" id="256" r:id="R207e66aa5cde4dc5"/>
    <p:sldId xmlns:r="http://schemas.openxmlformats.org/officeDocument/2006/relationships" id="257" r:id="R5882b7c135a54370"/>
    <p:sldId xmlns:r="http://schemas.openxmlformats.org/officeDocument/2006/relationships" id="258" r:id="R4d7047b937d64f24"/>
    <p:sldId xmlns:r="http://schemas.openxmlformats.org/officeDocument/2006/relationships" id="259" r:id="R852853ca41354c37"/>
    <p:sldId xmlns:r="http://schemas.openxmlformats.org/officeDocument/2006/relationships" id="260" r:id="R96d88f4549544903"/>
    <p:sldId xmlns:r="http://schemas.openxmlformats.org/officeDocument/2006/relationships" id="261" r:id="R900e88757ab742ad"/>
    <p:sldId xmlns:r="http://schemas.openxmlformats.org/officeDocument/2006/relationships" id="262" r:id="Recb9276ccb254c3d"/>
    <p:sldId xmlns:r="http://schemas.openxmlformats.org/officeDocument/2006/relationships" id="263" r:id="R17ab98c605c344cb"/>
    <p:sldId xmlns:r="http://schemas.openxmlformats.org/officeDocument/2006/relationships" id="264" r:id="R3c79fae961454eb3"/>
    <p:sldId xmlns:r="http://schemas.openxmlformats.org/officeDocument/2006/relationships" id="265" r:id="Ree832959b2eb4927"/>
    <p:sldId xmlns:r="http://schemas.openxmlformats.org/officeDocument/2006/relationships" id="266" r:id="Rf582fa172f2b44e1"/>
    <p:sldId xmlns:r="http://schemas.openxmlformats.org/officeDocument/2006/relationships" id="267" r:id="R635515ee93284bf2"/>
    <p:sldId xmlns:r="http://schemas.openxmlformats.org/officeDocument/2006/relationships" id="268" r:id="Rf84e217b2e0b4004"/>
    <p:sldId xmlns:r="http://schemas.openxmlformats.org/officeDocument/2006/relationships" id="269" r:id="Rb19af6344e9c44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eed9a7622489b" /><Relationship Type="http://schemas.openxmlformats.org/officeDocument/2006/relationships/slideMaster" Target="/ppt/slideMasters/slideMaster1.xml" Id="R27a7a0c14d2a4c59" /><Relationship Type="http://schemas.openxmlformats.org/officeDocument/2006/relationships/notesMaster" Target="/ppt/notesMasters/notesMaster1.xml" Id="R5f2021877944415d" /><Relationship Type="http://schemas.openxmlformats.org/officeDocument/2006/relationships/presProps" Target="/ppt/presProps.xml" Id="R5cc0fba25b2d461d" /><Relationship Type="http://schemas.openxmlformats.org/officeDocument/2006/relationships/tableStyles" Target="/ppt/tableStyles.xml" Id="Re2ef147b862c43f9" /><Relationship Type="http://schemas.openxmlformats.org/officeDocument/2006/relationships/slide" Target="/ppt/slides/slide1.xml" Id="R207e66aa5cde4dc5" /><Relationship Type="http://schemas.openxmlformats.org/officeDocument/2006/relationships/slide" Target="/ppt/slides/slide2.xml" Id="R5882b7c135a54370" /><Relationship Type="http://schemas.openxmlformats.org/officeDocument/2006/relationships/slide" Target="/ppt/slides/slide3.xml" Id="R4d7047b937d64f24" /><Relationship Type="http://schemas.openxmlformats.org/officeDocument/2006/relationships/slide" Target="/ppt/slides/slide4.xml" Id="R852853ca41354c37" /><Relationship Type="http://schemas.openxmlformats.org/officeDocument/2006/relationships/slide" Target="/ppt/slides/slide5.xml" Id="R96d88f4549544903" /><Relationship Type="http://schemas.openxmlformats.org/officeDocument/2006/relationships/slide" Target="/ppt/slides/slide6.xml" Id="R900e88757ab742ad" /><Relationship Type="http://schemas.openxmlformats.org/officeDocument/2006/relationships/slide" Target="/ppt/slides/slide7.xml" Id="Recb9276ccb254c3d" /><Relationship Type="http://schemas.openxmlformats.org/officeDocument/2006/relationships/slide" Target="/ppt/slides/slide8.xml" Id="R17ab98c605c344cb" /><Relationship Type="http://schemas.openxmlformats.org/officeDocument/2006/relationships/slide" Target="/ppt/slides/slide9.xml" Id="R3c79fae961454eb3" /><Relationship Type="http://schemas.openxmlformats.org/officeDocument/2006/relationships/slide" Target="/ppt/slides/slide10.xml" Id="Ree832959b2eb4927" /><Relationship Type="http://schemas.openxmlformats.org/officeDocument/2006/relationships/slide" Target="/ppt/slides/slide11.xml" Id="Rf582fa172f2b44e1" /><Relationship Type="http://schemas.openxmlformats.org/officeDocument/2006/relationships/slide" Target="/ppt/slides/slide12.xml" Id="R635515ee93284bf2" /><Relationship Type="http://schemas.openxmlformats.org/officeDocument/2006/relationships/slide" Target="/ppt/slides/slide13.xml" Id="Rf84e217b2e0b4004" /><Relationship Type="http://schemas.openxmlformats.org/officeDocument/2006/relationships/slide" Target="/ppt/slides/slide14.xml" Id="Rb19af6344e9c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ec43eb0dc43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06e67b88447cd" /><Relationship Type="http://schemas.openxmlformats.org/officeDocument/2006/relationships/notesMaster" Target="/ppt/notesMasters/notesMaster1.xml" Id="R07821e395cf9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861ec78024dde" /><Relationship Type="http://schemas.openxmlformats.org/officeDocument/2006/relationships/notesMaster" Target="/ppt/notesMasters/notesMaster1.xml" Id="R86ead15a4972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4e5e73225b4b7a" /><Relationship Type="http://schemas.openxmlformats.org/officeDocument/2006/relationships/notesMaster" Target="/ppt/notesMasters/notesMaster1.xml" Id="R8a26e931e0fa4e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90d4c164f49bc" /><Relationship Type="http://schemas.openxmlformats.org/officeDocument/2006/relationships/notesMaster" Target="/ppt/notesMasters/notesMaster1.xml" Id="Ree73bb802e7e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3dc5c8bf8c42ab" /><Relationship Type="http://schemas.openxmlformats.org/officeDocument/2006/relationships/notesMaster" Target="/ppt/notesMasters/notesMaster1.xml" Id="R645ddd30a78c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a7d41cc2534bad" /><Relationship Type="http://schemas.openxmlformats.org/officeDocument/2006/relationships/notesMaster" Target="/ppt/notesMasters/notesMaster1.xml" Id="R9dfa4d7eeb6244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38273968ad44eb" /><Relationship Type="http://schemas.openxmlformats.org/officeDocument/2006/relationships/notesMaster" Target="/ppt/notesMasters/notesMaster1.xml" Id="Rfa5205a7761144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8e48a8bac74c2b" /><Relationship Type="http://schemas.openxmlformats.org/officeDocument/2006/relationships/notesMaster" Target="/ppt/notesMasters/notesMaster1.xml" Id="R43e771827b0c42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02d96e99e4949" /><Relationship Type="http://schemas.openxmlformats.org/officeDocument/2006/relationships/notesMaster" Target="/ppt/notesMasters/notesMaster1.xml" Id="R280215270c7643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ad86cc13564321" /><Relationship Type="http://schemas.openxmlformats.org/officeDocument/2006/relationships/notesMaster" Target="/ppt/notesMasters/notesMaster1.xml" Id="R08dc9554fd3043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f14241f0484f76" /><Relationship Type="http://schemas.openxmlformats.org/officeDocument/2006/relationships/notesMaster" Target="/ppt/notesMasters/notesMaster1.xml" Id="R26141841ac1344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7cad5d15c44df6" /><Relationship Type="http://schemas.openxmlformats.org/officeDocument/2006/relationships/notesMaster" Target="/ppt/notesMasters/notesMaster1.xml" Id="Rd1a1066c8e8648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b3dee9518f46cb" /><Relationship Type="http://schemas.openxmlformats.org/officeDocument/2006/relationships/notesMaster" Target="/ppt/notesMasters/notesMaster1.xml" Id="R50123987f74547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838c2134964c88" /><Relationship Type="http://schemas.openxmlformats.org/officeDocument/2006/relationships/notesMaster" Target="/ppt/notesMasters/notesMaster1.xml" Id="R966a82d4b2f645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7b45acc9d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126574504435c" /><Relationship Type="http://schemas.openxmlformats.org/officeDocument/2006/relationships/slideLayout" Target="/ppt/slideLayouts/slideLayout1.xml" Id="R22222271a12b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22271a12b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978226df148cf" /><Relationship Type="http://schemas.openxmlformats.org/officeDocument/2006/relationships/notesSlide" Target="/ppt/notesSlides/notesSlide1.xml" Id="R1342e8456ec14e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02b26bad4134" /><Relationship Type="http://schemas.openxmlformats.org/officeDocument/2006/relationships/notesSlide" Target="/ppt/notesSlides/notesSlide2.xml" Id="R1f47f801e6cf4d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abbaf097b49c2" /><Relationship Type="http://schemas.openxmlformats.org/officeDocument/2006/relationships/notesSlide" Target="/ppt/notesSlides/notesSlide3.xml" Id="Rbef5b2498dcd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01549ecf74d8e" /><Relationship Type="http://schemas.openxmlformats.org/officeDocument/2006/relationships/notesSlide" Target="/ppt/notesSlides/notesSlide4.xml" Id="Rc6473cc5a5ac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25d0344b14fb3" /><Relationship Type="http://schemas.openxmlformats.org/officeDocument/2006/relationships/notesSlide" Target="/ppt/notesSlides/notesSlide5.xml" Id="Rc637728e08514d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917ce28274fe6" /><Relationship Type="http://schemas.openxmlformats.org/officeDocument/2006/relationships/notesSlide" Target="/ppt/notesSlides/notesSlide6.xml" Id="R6bcbafb9f92442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e04000b9c40fa" /><Relationship Type="http://schemas.openxmlformats.org/officeDocument/2006/relationships/notesSlide" Target="/ppt/notesSlides/notesSlide7.xml" Id="Ra89027d4259b4f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9b2616594209" /><Relationship Type="http://schemas.openxmlformats.org/officeDocument/2006/relationships/notesSlide" Target="/ppt/notesSlides/notesSlide8.xml" Id="Rc805febe373b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4c1fa13d04e2a" /><Relationship Type="http://schemas.openxmlformats.org/officeDocument/2006/relationships/notesSlide" Target="/ppt/notesSlides/notesSlide9.xml" Id="R1e18f3ff0a15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2723ba8884748" /><Relationship Type="http://schemas.openxmlformats.org/officeDocument/2006/relationships/notesSlide" Target="/ppt/notesSlides/notesSlide10.xml" Id="R5d29dd30ccaf43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324cb2d104845" /><Relationship Type="http://schemas.openxmlformats.org/officeDocument/2006/relationships/image" Target="/ppt/media/image.png" Id="R1585f0a0857840d1" /><Relationship Type="http://schemas.openxmlformats.org/officeDocument/2006/relationships/image" Target="/ppt/media/image2.png" Id="R842f887043fb4c62" /><Relationship Type="http://schemas.openxmlformats.org/officeDocument/2006/relationships/notesSlide" Target="/ppt/notesSlides/notesSlide11.xml" Id="R49d236027e9340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d0f8c72c24732" /><Relationship Type="http://schemas.openxmlformats.org/officeDocument/2006/relationships/image" Target="/ppt/media/image3.png" Id="Re83e29f436214af7" /><Relationship Type="http://schemas.openxmlformats.org/officeDocument/2006/relationships/image" Target="/ppt/media/image4.png" Id="Rbef47bf57f834583" /><Relationship Type="http://schemas.openxmlformats.org/officeDocument/2006/relationships/notesSlide" Target="/ppt/notesSlides/notesSlide12.xml" Id="R423139862c6e4c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159bf47384719" /><Relationship Type="http://schemas.openxmlformats.org/officeDocument/2006/relationships/notesSlide" Target="/ppt/notesSlides/notesSlide13.xml" Id="Re4155e7c13c243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cf710d0dd419a" /><Relationship Type="http://schemas.openxmlformats.org/officeDocument/2006/relationships/notesSlide" Target="/ppt/notesSlides/notesSlide14.xml" Id="Ra48826033f5f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C598D-0F16-4EA3-A52F-05FBA75E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Sample-Efficient PPO for</a:t>
            </a:r>
          </a:p>
          <a:p xmlns:a="http://schemas.openxmlformats.org/drawingml/2006/main">
            <a:pPr algn="l"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CarRacing-v3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DF40E-4269-46EE-949A-8639144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766E"/>
                </a:solidFill>
              </a:defRPr>
            </a:pPr>
            <a:r>
              <a:rPr sz="1875" b="0">
                <a:solidFill>
                  <a:srgbClr val="0F766E"/>
                </a:solidFill>
              </a:rPr>
              <a:t>Road-mask ray features + PPO MlpPolicy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8F68C-9458-41AF-B216-76DA861E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Joe / Student ID: 1103820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0ABCB-57B3-46F6-82B2-CD41437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780E1-A044-4A6E-9DEE-0F181CB2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500k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32294-2955-428E-9FC7-EFC372DB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training timesteps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21AF5-E590-41AD-83F0-BB6582A3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341AD-7F12-4700-9049-4F6AACF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929.7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B7ECD-4770-49B3-B913-783F8DD9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best raw 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E7B51-CC6E-499C-A0CE-D78C047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00C47-2077-419E-BB54-88A5DA25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614.1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AF11C-0DF6-4C70-B941-5CAD2AA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81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RANDOM10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8DB10-27A2-4740-ADD5-01BFBD7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1</a:t>
            </a:r>
          </a:p>
        </p:txBody>
      </p:sp>
    </p:spTree>
    <p:extLst>
      <p:ext uri="{BB962C8B-B14F-4D97-AF65-F5344CB8AC3E}">
        <p14:creationId xmlns:p14="http://schemas.microsoft.com/office/powerpoint/2010/main" val="56966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AE288-9760-45A6-9D9E-753541B3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10B86-92A3-4F18-9D0C-A0BE7F9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Research Question and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FB202-96ED-45F7-8848-F9207F6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885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- Can compact road-mask ray features make PPO learn CarRacing-v3 faster than raw-pixel learning?</a:t>
            </a:r>
          </a:p>
          <a:p xmlns:a="http://schemas.openxmlformats.org/drawingml/2006/main">
            <a:pPr algn="l"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- Contribution: replace image input with interpretable 56D stacked features.</a:t>
            </a:r>
          </a:p>
          <a:p xmlns:a="http://schemas.openxmlformats.org/drawingml/2006/main">
            <a:pPr algn="l"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- Claim: promising sample efficiency, not a fully robust controller.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4A306-7FBC-4FE7-B765-D45CFB72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35FA3-8D03-46E6-A291-B405DF1A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56D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04067-90A2-47CA-A96A-BC65C486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PPO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320E8-CC29-42E3-8F8D-C313729D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2</a:t>
            </a:r>
          </a:p>
        </p:txBody>
      </p:sp>
    </p:spTree>
    <p:extLst>
      <p:ext uri="{BB962C8B-B14F-4D97-AF65-F5344CB8AC3E}">
        <p14:creationId xmlns:p14="http://schemas.microsoft.com/office/powerpoint/2010/main" val="807536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73760-5E1D-464C-9BEF-8AE5AD6E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4BFA4-F4C9-4AA5-B0CA-DB17F91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Introduction: Pixel-Based Continuous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748DD-1E5E-496F-8C11-4CB68ED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715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CarRacing-v3 provides a 96x96 RGB observation.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The agent controls steering, gas, and brake continuously.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Raw-pixel PPO must learn vision and control together.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Random tracks make a single successful episode insufficient.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90777-8BD6-457F-9425-C3D9A48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3</a:t>
            </a:r>
          </a:p>
        </p:txBody>
      </p:sp>
    </p:spTree>
    <p:extLst>
      <p:ext uri="{BB962C8B-B14F-4D97-AF65-F5344CB8AC3E}">
        <p14:creationId xmlns:p14="http://schemas.microsoft.com/office/powerpoint/2010/main" val="2128873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14882-7AB0-40F7-B9C0-656CEA0C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CEAF1-FE18-4A0C-AFCD-792EC27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Related Work and Baseline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C16E4-6035-4E47-8162-AC10C44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PPO uses a clipped objective to avoid overly large policy updates.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Stable-Baselines3 separates CnnPolicy for images and MlpPolicy for vectors.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RL Zoo uses CnnPolicy and 4e6 timesteps for CarRacing PPO.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RL Zoo is configuration context only because it was not re-run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E41B1-86A4-4C2E-BCC9-8EF1706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4</a:t>
            </a:r>
          </a:p>
        </p:txBody>
      </p:sp>
    </p:spTree>
    <p:extLst>
      <p:ext uri="{BB962C8B-B14F-4D97-AF65-F5344CB8AC3E}">
        <p14:creationId xmlns:p14="http://schemas.microsoft.com/office/powerpoint/2010/main" val="129543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6929E-135E-46F5-A468-1F1E0D5D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13FF3-4965-4256-88AE-68B5C1B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Proposed Method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E9875-1B9B-4FE1-9C1C-C124E0D4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EEE96-0108-48DD-B8B5-F33060B2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75"/>
                </a:solidFill>
              </a:defRPr>
            </a:pPr>
            <a:r>
              <a:rPr sz="1950" b="1">
                <a:solidFill>
                  <a:srgbClr val="155E75"/>
                </a:solidFill>
              </a:rPr>
              <a:t>RGB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70741-55EA-429F-80E9-3653D93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64D3C-65F4-4828-9A7F-FA2847FE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95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AA6C9-D5E3-4730-BED2-9F4BA7AB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B9A94-07F2-4FE1-917D-A01353E5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75"/>
                </a:solidFill>
              </a:defRPr>
            </a:pPr>
            <a:r>
              <a:rPr sz="1950" b="1">
                <a:solidFill>
                  <a:srgbClr val="155E75"/>
                </a:solidFill>
              </a:rPr>
              <a:t>HSV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50CE0-235E-4D49-9985-5DD257B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7E3FE-68E4-40CA-8E0E-4CC0A87E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95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F62AD-4224-407E-A02E-3363A8F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0D471-105C-47E9-B61D-7A4FE44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75"/>
                </a:solidFill>
              </a:defRPr>
            </a:pPr>
            <a:r>
              <a:rPr sz="1950" b="1">
                <a:solidFill>
                  <a:srgbClr val="155E75"/>
                </a:solidFill>
              </a:rPr>
              <a:t>9 rays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83A87-DBAD-4034-AB2C-D0FC999B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68D0A-20AC-408D-98E0-69DAF313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3C2D9-0D90-42ED-92D3-5CCFAFA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381F8-B886-4C3D-A999-72556408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75"/>
                </a:solidFill>
              </a:defRPr>
            </a:pPr>
            <a:r>
              <a:rPr sz="1950" b="1">
                <a:solidFill>
                  <a:srgbClr val="155E75"/>
                </a:solidFill>
              </a:rPr>
              <a:t>14D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EA8CF-C9BA-43A3-B65E-6E3ADFD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6C652-5427-4070-86B1-9FCD046F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81FF6-70F8-49B0-8417-B3C5C105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CE4D5-08A4-497B-919B-96F6531C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75"/>
                </a:solidFill>
              </a:defRPr>
            </a:pPr>
            <a:r>
              <a:rPr sz="1950" b="1">
                <a:solidFill>
                  <a:srgbClr val="155E75"/>
                </a:solidFill>
              </a:rPr>
              <a:t>56D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D4C75-1865-4F36-91FC-860C4FA5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E46F9-5774-4584-A068-6E34601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9A494-4DEE-4891-9DA6-F8E18B55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76450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521C7-5675-40B8-8735-353E58C9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75"/>
                </a:solidFill>
              </a:defRPr>
            </a:pPr>
            <a:r>
              <a:rPr sz="1950" b="1">
                <a:solidFill>
                  <a:srgbClr val="155E75"/>
                </a:solidFill>
              </a:rPr>
              <a:t>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A51F3-3053-4EF0-AA2E-A2432F2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MLP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DC76C-78A5-4C13-9C8C-118007F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- PPO is unchanged.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- The wrapper changes what the policy observes and how actions are smoothed.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- Final evaluation reloads saved model and VecNormalize artifacts.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B001E-B050-4A39-8FA4-2E98B771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5</a:t>
            </a:r>
          </a:p>
        </p:txBody>
      </p:sp>
    </p:spTree>
    <p:extLst>
      <p:ext uri="{BB962C8B-B14F-4D97-AF65-F5344CB8AC3E}">
        <p14:creationId xmlns:p14="http://schemas.microsoft.com/office/powerpoint/2010/main" val="1838654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DFBC84-6EC9-424C-BFBF-95982E34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0DDD0-DB7B-401C-B104-9CE5037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Ray Feature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943D8-127B-47A0-ADC2-20246E6F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609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HSV threshold detects grass-like pixels; inversion approximates road.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Nine rays span the visible left, center, and right road regions.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Speed-adaptive ray length gives earlier boundary information.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Curvature comes from left-right ray imbalance.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C6343-89E8-4794-AF87-03DEE07B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o_t = [9 ray distances,</a:t>
            </a:r>
          </a:p>
          <a:p xmlns:a="http://schemas.openxmlformats.org/drawingml/2006/main">
            <a:pPr algn="ct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previous controls,</a:t>
            </a:r>
          </a:p>
          <a:p xmlns:a="http://schemas.openxmlformats.org/drawingml/2006/main">
            <a:pPr algn="ct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speed, curvature]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4-frame stack -&gt; 56D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566F-CCEC-4CFB-99B3-8152C30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6</a:t>
            </a:r>
          </a:p>
        </p:txBody>
      </p:sp>
    </p:spTree>
    <p:extLst>
      <p:ext uri="{BB962C8B-B14F-4D97-AF65-F5344CB8AC3E}">
        <p14:creationId xmlns:p14="http://schemas.microsoft.com/office/powerpoint/2010/main" val="1034444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1FB38-DB77-4564-959D-E4E2B1BD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D5163-44DA-47A8-979B-6FD9648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PPO Setup and Reward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2C6C2-8EC6-44C5-B57D-40D5C307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9525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MlpPolicy with 256 x 256 network.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- 4 parallel environments, n_steps=1024, batch_size=256.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Learning rate decays from 3e-4 to 1e-5.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Reward shaping guides training; raw reward is used for final reporting.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Action smoothing reduces jitter but may slow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EF166-1A99-4EDA-93A7-3567BFA5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7</a:t>
            </a:r>
          </a:p>
        </p:txBody>
      </p:sp>
    </p:spTree>
    <p:extLst>
      <p:ext uri="{BB962C8B-B14F-4D97-AF65-F5344CB8AC3E}">
        <p14:creationId xmlns:p14="http://schemas.microsoft.com/office/powerpoint/2010/main" val="1270295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A9D54-F1E6-4185-ADE2-56AB223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DB0BE-C809-4E7B-A756-F6D600F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Experimental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B70B3-DBA2-4EE7-8E8B-D8214793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9525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Training budget: 500,000 timesteps.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Environment: Gymnasium CarRacing-v3.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No external dataset; tracks are simulator-generated.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Model and VecNormalize statistics are saved as paired artifacts.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Evaluation reloads artifacts from disk to avoid hidden notebook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C0023-FEFB-46B9-BA5C-103061A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8</a:t>
            </a:r>
          </a:p>
        </p:txBody>
      </p:sp>
    </p:spTree>
    <p:extLst>
      <p:ext uri="{BB962C8B-B14F-4D97-AF65-F5344CB8AC3E}">
        <p14:creationId xmlns:p14="http://schemas.microsoft.com/office/powerpoint/2010/main" val="31019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8201F-BB44-4714-BA86-F71E97D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9B1EF-2BFA-44AE-AFCB-62F522F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Evaluation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849B6-BEBB-4BBF-8D18-F0D4A0D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9525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COMPARE5: fixed seeds 42, 123, 777, 999, 2026.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RANDOM10: deterministic random seeds.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Report raw reward, shaped reward, frames, done reason, and control statistics.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First-frame hashes confirm seed diversity.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Qualitative videos illustrate behavior but do not replace CSV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66B68-D98A-451B-9254-57A55F3C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9</a:t>
            </a:r>
          </a:p>
        </p:txBody>
      </p:sp>
    </p:spTree>
    <p:extLst>
      <p:ext uri="{BB962C8B-B14F-4D97-AF65-F5344CB8AC3E}">
        <p14:creationId xmlns:p14="http://schemas.microsoft.com/office/powerpoint/2010/main" val="779136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3FBE0-9EEB-49D8-96AC-0B5A89C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717AB-DB0E-41AE-B86A-C4472D4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Quantitative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D60DC-60B9-4B7F-AAD2-77FA282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266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21C02-C934-4496-8520-EDC5E06E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62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609.1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B2C58-B005-49E3-A6EF-9F69DD9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COMPARE5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1A23C-EDB6-4E63-B2C6-BAEF99A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6316C-BEF9-484F-94C1-C606A290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62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614.1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8DD05-B403-4CFE-8D5D-2134D85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RANDOM10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CDF08-619F-4524-957F-44A5FB8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66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66E6D-8AAD-46C4-B031-A305CCE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621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929.7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B4DE9-809E-4136-8B9B-C6EAADA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best raw reward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81083-97D0-4B04-918D-320B1844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857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Several seeds reach near-900 or 900+.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Two RANDOM10 seeds fail near 55-56.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The mean hides a success/failure mixture, so seed-level tables matter.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06A7A-DA15-4456-8509-5C72F39D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10</a:t>
            </a:r>
          </a:p>
        </p:txBody>
      </p:sp>
    </p:spTree>
    <p:extLst>
      <p:ext uri="{BB962C8B-B14F-4D97-AF65-F5344CB8AC3E}">
        <p14:creationId xmlns:p14="http://schemas.microsoft.com/office/powerpoint/2010/main" val="317164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423A3-4E37-4641-A9B1-F8D26897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337E8-CF25-4D50-863B-37556965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Training Curve and Reward Distribution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5f0a0857840d1"/>
          <a:stretch xmlns:a="http://schemas.openxmlformats.org/drawingml/2006/main"/>
        </p:blipFill>
        <p:spPr>
          <a:xfrm xmlns:a="http://schemas.openxmlformats.org/drawingml/2006/main">
            <a:off x="762000" y="1852613"/>
            <a:ext cx="5143500" cy="20574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f887043fb4c62"/>
          <a:stretch xmlns:a="http://schemas.openxmlformats.org/drawingml/2006/main"/>
        </p:blipFill>
        <p:spPr>
          <a:xfrm xmlns:a="http://schemas.openxmlformats.org/drawingml/2006/main">
            <a:off x="6191250" y="1996848"/>
            <a:ext cx="4953000" cy="176892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85991-BEE4-4DF6-90CF-3EBB153A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- Training improves but remains variable.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- Final chart shows high-score and failure groups clearly.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- This supports a conservative sample-efficiency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488A8-1B7B-49D6-9E81-9C5369DC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11</a:t>
            </a:r>
          </a:p>
        </p:txBody>
      </p:sp>
    </p:spTree>
    <p:extLst>
      <p:ext uri="{BB962C8B-B14F-4D97-AF65-F5344CB8AC3E}">
        <p14:creationId xmlns:p14="http://schemas.microsoft.com/office/powerpoint/2010/main" val="2012545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6ACFE-E3FA-4575-86AA-CD2E738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0DA73-40EF-4CD4-9EBF-29B5AB3C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Qualitative Success and Failure Cases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e29f436214af7"/>
          <a:stretch xmlns:a="http://schemas.openxmlformats.org/drawingml/2006/main"/>
        </p:blipFill>
        <p:spPr>
          <a:xfrm xmlns:a="http://schemas.openxmlformats.org/drawingml/2006/main">
            <a:off x="781050" y="1744495"/>
            <a:ext cx="4953000" cy="1292559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47bf57f834583"/>
          <a:stretch xmlns:a="http://schemas.openxmlformats.org/drawingml/2006/main"/>
        </p:blipFill>
        <p:spPr>
          <a:xfrm xmlns:a="http://schemas.openxmlformats.org/drawingml/2006/main">
            <a:off x="781050" y="3935245"/>
            <a:ext cx="4953000" cy="129255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C6B4D-932E-4D44-908B-53FE5E7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- Success, seed 2026: the car approaches a curve, stays on road, and continues.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- Failure, seed 599310825: the car drifts away from the useful local ray view and cannot recover.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- These strips explain behavior; the CSV tables remain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EE335-B9FA-4694-96E8-3EDED118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12</a:t>
            </a:r>
          </a:p>
        </p:txBody>
      </p:sp>
    </p:spTree>
    <p:extLst>
      <p:ext uri="{BB962C8B-B14F-4D97-AF65-F5344CB8AC3E}">
        <p14:creationId xmlns:p14="http://schemas.microsoft.com/office/powerpoint/2010/main" val="7357052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9C17C-5140-4E51-A0E5-3A64D9F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B6B3-209D-4A50-A916-5874534D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Reproducibility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89FDA-84ED-499F-9CB5-5E96D7F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9525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Clean Colab notebook with cleared outputs.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Report PDF plus Overleaf-ready IEEE LaTeX source.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CSV result tables and regenerated figures.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Artifact zip with model, VecNormalize, metadata, and videos.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- Chinese guide explains course upload and GitHub upload.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897C0-7F8A-4693-961D-5753B14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13</a:t>
            </a:r>
          </a:p>
        </p:txBody>
      </p:sp>
    </p:spTree>
    <p:extLst>
      <p:ext uri="{BB962C8B-B14F-4D97-AF65-F5344CB8AC3E}">
        <p14:creationId xmlns:p14="http://schemas.microsoft.com/office/powerpoint/2010/main" val="16256344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51F00-7676-46B9-BF9F-57F7D804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CarRacing-v3 PPO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BD6F3-9D7A-494C-B757-3ABC704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Conclusion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7DB41-6750-465E-89B4-EA5CB63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Road-mask ray features can produce high-reward CarRacing episodes with 500k timesteps.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Failure seeds remain, so robustness is incomplete.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RL Zoo is context only, not a directly beaten baseline.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- Future work: matched baseline run and component ablations.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878A-FDCE-403B-9D25-792AB8A4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Final claim: promising representation, not a fully solved controller.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7B8BF-C319-485E-A1F5-E2D9FE5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Joe / 1103820    14</a:t>
            </a:r>
          </a:p>
        </p:txBody>
      </p:sp>
    </p:spTree>
    <p:extLst>
      <p:ext uri="{BB962C8B-B14F-4D97-AF65-F5344CB8AC3E}">
        <p14:creationId xmlns:p14="http://schemas.microsoft.com/office/powerpoint/2010/main" val="288305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2026-06-20T07:14:54.1380000Z</dcterms:created>
  <dcterms:modified xsi:type="dcterms:W3CDTF">2026-06-20T07:14:54.1380000Z</dcterms:modified>
</coreProperties>
</file>