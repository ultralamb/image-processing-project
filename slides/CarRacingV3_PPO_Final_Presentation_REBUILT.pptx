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0ee09ba34d41c6" /><Relationship Type="http://schemas.openxmlformats.org/officeDocument/2006/relationships/extended-properties" Target="/docProps/app.xml" Id="Rcc278357834d4625" /><Relationship Type="http://schemas.openxmlformats.org/officeDocument/2006/relationships/officeDocument" Target="/ppt/presentation.xml" Id="R87850ebdb5bb44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9aee5a97914d0b"/>
  </p:sldMasterIdLst>
  <p:notesMasterIdLst>
    <p:notesMasterId xmlns:r="http://schemas.openxmlformats.org/officeDocument/2006/relationships" r:id="R33142ff9ce914bb1"/>
  </p:notesMasterIdLst>
  <p:sldIdLst>
    <p:sldId xmlns:r="http://schemas.openxmlformats.org/officeDocument/2006/relationships" id="256" r:id="R9cf64c01f54a415a"/>
    <p:sldId xmlns:r="http://schemas.openxmlformats.org/officeDocument/2006/relationships" id="257" r:id="R98548f8e36304953"/>
    <p:sldId xmlns:r="http://schemas.openxmlformats.org/officeDocument/2006/relationships" id="258" r:id="R9e37151ebc604786"/>
    <p:sldId xmlns:r="http://schemas.openxmlformats.org/officeDocument/2006/relationships" id="259" r:id="Reb3853da6f4d4c74"/>
    <p:sldId xmlns:r="http://schemas.openxmlformats.org/officeDocument/2006/relationships" id="260" r:id="R6746080017ad48d9"/>
    <p:sldId xmlns:r="http://schemas.openxmlformats.org/officeDocument/2006/relationships" id="261" r:id="Reee0e8dafe424329"/>
    <p:sldId xmlns:r="http://schemas.openxmlformats.org/officeDocument/2006/relationships" id="262" r:id="Rae2e461b315a422e"/>
    <p:sldId xmlns:r="http://schemas.openxmlformats.org/officeDocument/2006/relationships" id="263" r:id="R3aa6543c1a8a486f"/>
    <p:sldId xmlns:r="http://schemas.openxmlformats.org/officeDocument/2006/relationships" id="264" r:id="R6037737ed7ae49c6"/>
    <p:sldId xmlns:r="http://schemas.openxmlformats.org/officeDocument/2006/relationships" id="265" r:id="R8ef20a1ea7f54dd1"/>
    <p:sldId xmlns:r="http://schemas.openxmlformats.org/officeDocument/2006/relationships" id="266" r:id="R969ec63bb4134568"/>
    <p:sldId xmlns:r="http://schemas.openxmlformats.org/officeDocument/2006/relationships" id="267" r:id="R89a93d5c0ef643c8"/>
    <p:sldId xmlns:r="http://schemas.openxmlformats.org/officeDocument/2006/relationships" id="268" r:id="Rda57cd08561b4e3d"/>
    <p:sldId xmlns:r="http://schemas.openxmlformats.org/officeDocument/2006/relationships" id="269" r:id="R0935385c2a6f45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2c103e6cbf4b2c" /><Relationship Type="http://schemas.openxmlformats.org/officeDocument/2006/relationships/slideMaster" Target="/ppt/slideMasters/slideMaster1.xml" Id="R849aee5a97914d0b" /><Relationship Type="http://schemas.openxmlformats.org/officeDocument/2006/relationships/notesMaster" Target="/ppt/notesMasters/notesMaster1.xml" Id="R33142ff9ce914bb1" /><Relationship Type="http://schemas.openxmlformats.org/officeDocument/2006/relationships/presProps" Target="/ppt/presProps.xml" Id="Re34302647f214311" /><Relationship Type="http://schemas.openxmlformats.org/officeDocument/2006/relationships/tableStyles" Target="/ppt/tableStyles.xml" Id="Rcef9f40b1a5a4e07" /><Relationship Type="http://schemas.openxmlformats.org/officeDocument/2006/relationships/slide" Target="/ppt/slides/slide1.xml" Id="R9cf64c01f54a415a" /><Relationship Type="http://schemas.openxmlformats.org/officeDocument/2006/relationships/slide" Target="/ppt/slides/slide2.xml" Id="R98548f8e36304953" /><Relationship Type="http://schemas.openxmlformats.org/officeDocument/2006/relationships/slide" Target="/ppt/slides/slide3.xml" Id="R9e37151ebc604786" /><Relationship Type="http://schemas.openxmlformats.org/officeDocument/2006/relationships/slide" Target="/ppt/slides/slide4.xml" Id="Reb3853da6f4d4c74" /><Relationship Type="http://schemas.openxmlformats.org/officeDocument/2006/relationships/slide" Target="/ppt/slides/slide5.xml" Id="R6746080017ad48d9" /><Relationship Type="http://schemas.openxmlformats.org/officeDocument/2006/relationships/slide" Target="/ppt/slides/slide6.xml" Id="Reee0e8dafe424329" /><Relationship Type="http://schemas.openxmlformats.org/officeDocument/2006/relationships/slide" Target="/ppt/slides/slide7.xml" Id="Rae2e461b315a422e" /><Relationship Type="http://schemas.openxmlformats.org/officeDocument/2006/relationships/slide" Target="/ppt/slides/slide8.xml" Id="R3aa6543c1a8a486f" /><Relationship Type="http://schemas.openxmlformats.org/officeDocument/2006/relationships/slide" Target="/ppt/slides/slide9.xml" Id="R6037737ed7ae49c6" /><Relationship Type="http://schemas.openxmlformats.org/officeDocument/2006/relationships/slide" Target="/ppt/slides/slide10.xml" Id="R8ef20a1ea7f54dd1" /><Relationship Type="http://schemas.openxmlformats.org/officeDocument/2006/relationships/slide" Target="/ppt/slides/slide11.xml" Id="R969ec63bb4134568" /><Relationship Type="http://schemas.openxmlformats.org/officeDocument/2006/relationships/slide" Target="/ppt/slides/slide12.xml" Id="R89a93d5c0ef643c8" /><Relationship Type="http://schemas.openxmlformats.org/officeDocument/2006/relationships/slide" Target="/ppt/slides/slide13.xml" Id="Rda57cd08561b4e3d" /><Relationship Type="http://schemas.openxmlformats.org/officeDocument/2006/relationships/slide" Target="/ppt/slides/slide14.xml" Id="R0935385c2a6f45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4f0bdd58ed4f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20416195d47f9" /><Relationship Type="http://schemas.openxmlformats.org/officeDocument/2006/relationships/notesMaster" Target="/ppt/notesMasters/notesMaster1.xml" Id="Rc9bf07c6f69948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0175e9d11e442b" /><Relationship Type="http://schemas.openxmlformats.org/officeDocument/2006/relationships/notesMaster" Target="/ppt/notesMasters/notesMaster1.xml" Id="R67fe13265b5248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8d70b4ea4a4603" /><Relationship Type="http://schemas.openxmlformats.org/officeDocument/2006/relationships/notesMaster" Target="/ppt/notesMasters/notesMaster1.xml" Id="R5d57eef859d14f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649e203fa54470" /><Relationship Type="http://schemas.openxmlformats.org/officeDocument/2006/relationships/notesMaster" Target="/ppt/notesMasters/notesMaster1.xml" Id="Refff0a3bb9c546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66002a0074fa2" /><Relationship Type="http://schemas.openxmlformats.org/officeDocument/2006/relationships/notesMaster" Target="/ppt/notesMasters/notesMaster1.xml" Id="R244064edd2d24c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657d5a725d4ce2" /><Relationship Type="http://schemas.openxmlformats.org/officeDocument/2006/relationships/notesMaster" Target="/ppt/notesMasters/notesMaster1.xml" Id="Rc9ba0880377347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58904733d045bd" /><Relationship Type="http://schemas.openxmlformats.org/officeDocument/2006/relationships/notesMaster" Target="/ppt/notesMasters/notesMaster1.xml" Id="R4a5422bde4bd48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3db2b2735b4887" /><Relationship Type="http://schemas.openxmlformats.org/officeDocument/2006/relationships/notesMaster" Target="/ppt/notesMasters/notesMaster1.xml" Id="Rf18ea94dacc348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9cf9b56bc942f3" /><Relationship Type="http://schemas.openxmlformats.org/officeDocument/2006/relationships/notesMaster" Target="/ppt/notesMasters/notesMaster1.xml" Id="R9441fecbfe1643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9916e996c84d44" /><Relationship Type="http://schemas.openxmlformats.org/officeDocument/2006/relationships/notesMaster" Target="/ppt/notesMasters/notesMaster1.xml" Id="R6e2f048833304b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6c05ec7d4c4b13" /><Relationship Type="http://schemas.openxmlformats.org/officeDocument/2006/relationships/notesMaster" Target="/ppt/notesMasters/notesMaster1.xml" Id="Raa27d242743e48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aeb6bf74ed41a8" /><Relationship Type="http://schemas.openxmlformats.org/officeDocument/2006/relationships/notesMaster" Target="/ppt/notesMasters/notesMaster1.xml" Id="Rb4248620ed4b4c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00237bf3ab4ea8" /><Relationship Type="http://schemas.openxmlformats.org/officeDocument/2006/relationships/notesMaster" Target="/ppt/notesMasters/notesMaster1.xml" Id="R70c84100c2a24c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7ef6fe00f54c68" /><Relationship Type="http://schemas.openxmlformats.org/officeDocument/2006/relationships/notesMaster" Target="/ppt/notesMasters/notesMaster1.xml" Id="Ra62aa2cad74643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project idea and the three headline numbers.</a:t>
            </a:r>
          </a:p>
          <a:p xmlns:a="http://schemas.openxmlformats.org/drawingml/2006/main">
            <a:r>
              <a:t>Emphasize that the conservative conclusion is intentional.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benchmark and why raw images are expensive under a course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exactly what is contributed and what is not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baseline context clear and avoid overstating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through preprocessing, feature stack, PPO, and smoothed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the vector is interpretable and why it can train faster than raw pixels.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factual; do not imply a new PPO algorithm.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final evaluation reloads saved artifacts and is not a live-notebook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over-interpret the curve; it is diagnostic, not the final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both the strong seeds and the low-reward failures.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why the conclusion is balanced.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success strip first, then the drift and failed recovery strip.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limitations as credibility, not weakness.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repeating the balanced conclusion and pointing to the reproducibility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8581c6c1f41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812f636d5540cf" /><Relationship Type="http://schemas.openxmlformats.org/officeDocument/2006/relationships/slideLayout" Target="/ppt/slideLayouts/slideLayout1.xml" Id="R96cc41ed025748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cc41ed025748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b8dccd4eb4d76" /><Relationship Type="http://schemas.openxmlformats.org/officeDocument/2006/relationships/image" Target="/ppt/media/image.png" Id="Rdf2fe7cb9b674747" /><Relationship Type="http://schemas.openxmlformats.org/officeDocument/2006/relationships/notesSlide" Target="/ppt/notesSlides/notesSlide1.xml" Id="R490d9f1d767d40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b43a31c3542e2" /><Relationship Type="http://schemas.openxmlformats.org/officeDocument/2006/relationships/image" Target="/ppt/media/image2.png" Id="Rfcc1b2f8b22946f5" /><Relationship Type="http://schemas.openxmlformats.org/officeDocument/2006/relationships/notesSlide" Target="/ppt/notesSlides/notesSlide2.xml" Id="R0df089dd17a843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045adb89246c6" /><Relationship Type="http://schemas.openxmlformats.org/officeDocument/2006/relationships/notesSlide" Target="/ppt/notesSlides/notesSlide3.xml" Id="R1c7be4eff9dc4f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cca3b4ac54d2a" /><Relationship Type="http://schemas.openxmlformats.org/officeDocument/2006/relationships/notesSlide" Target="/ppt/notesSlides/notesSlide4.xml" Id="Rf25cdf44b2314f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d448f4da74019" /><Relationship Type="http://schemas.openxmlformats.org/officeDocument/2006/relationships/image" Target="/ppt/media/image3.png" Id="R6ea28eea6cab4cd5" /><Relationship Type="http://schemas.openxmlformats.org/officeDocument/2006/relationships/notesSlide" Target="/ppt/notesSlides/notesSlide5.xml" Id="R75320652928a4f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b4ae31bac41bb" /><Relationship Type="http://schemas.openxmlformats.org/officeDocument/2006/relationships/image" Target="/ppt/media/image4.png" Id="R15b2433ca2964def" /><Relationship Type="http://schemas.openxmlformats.org/officeDocument/2006/relationships/notesSlide" Target="/ppt/notesSlides/notesSlide6.xml" Id="Rdc6af953966743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4f944f49248cd" /><Relationship Type="http://schemas.openxmlformats.org/officeDocument/2006/relationships/notesSlide" Target="/ppt/notesSlides/notesSlide7.xml" Id="R36ddcef2f72444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f6883cb224ebc" /><Relationship Type="http://schemas.openxmlformats.org/officeDocument/2006/relationships/notesSlide" Target="/ppt/notesSlides/notesSlide8.xml" Id="Rf569360abb124f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4ceeb0de941bd" /><Relationship Type="http://schemas.openxmlformats.org/officeDocument/2006/relationships/image" Target="/ppt/media/image5.png" Id="R481244ca692d4710" /><Relationship Type="http://schemas.openxmlformats.org/officeDocument/2006/relationships/notesSlide" Target="/ppt/notesSlides/notesSlide9.xml" Id="R5a70d4f550b740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291312b754d65" /><Relationship Type="http://schemas.openxmlformats.org/officeDocument/2006/relationships/image" Target="/ppt/media/image6.png" Id="R1e8ac8d19f3d4f2d" /><Relationship Type="http://schemas.openxmlformats.org/officeDocument/2006/relationships/notesSlide" Target="/ppt/notesSlides/notesSlide10.xml" Id="R70269b3f8e5e4d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589df8a7147fe" /><Relationship Type="http://schemas.openxmlformats.org/officeDocument/2006/relationships/notesSlide" Target="/ppt/notesSlides/notesSlide11.xml" Id="R8a3fa8eba8e44d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df90dd1b043ab" /><Relationship Type="http://schemas.openxmlformats.org/officeDocument/2006/relationships/image" Target="/ppt/media/image7.png" Id="R380de6435b5340d4" /><Relationship Type="http://schemas.openxmlformats.org/officeDocument/2006/relationships/notesSlide" Target="/ppt/notesSlides/notesSlide12.xml" Id="Reaf917f24c8b45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a1fbd650c4c72" /><Relationship Type="http://schemas.openxmlformats.org/officeDocument/2006/relationships/notesSlide" Target="/ppt/notesSlides/notesSlide13.xml" Id="R5c367fefaee645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7ea02c9ce46be" /><Relationship Type="http://schemas.openxmlformats.org/officeDocument/2006/relationships/notesSlide" Target="/ppt/notesSlides/notesSlide14.xml" Id="Rab7909ddd3b34d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676560-1395-4BC2-961A-D313E522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Sample-Efficient PPO for</a:t>
            </a:r>
          </a:p>
          <a:p xmlns:a="http://schemas.openxmlformats.org/drawingml/2006/main">
            <a:pPr algn="l">
              <a:defRPr sz="33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CarRacing-v3 Using Road-Mask Ray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8F555-8FE5-413E-8602-2D7D3F9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Joe / Student ID: 1103820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B0EB4-3B27-481B-83D5-3F710B40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25709-9EA0-4B6A-97BD-E43A761E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1F5F9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4CA1E-EFF6-4272-B9AB-BA70628B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500k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21936-02B2-4501-B983-8C7EA1D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training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6488A-3564-4C87-B43A-CC071F3B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324AB-13FB-466B-991A-5ACE5540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BA15B-2FB5-49B7-A509-4CA228C6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956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929.7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CB434-82D9-4406-9184-79E453C4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5757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best raw reward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FD8A4-69D6-4CE1-8228-1D8A274D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5275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6DFF6-D22C-45FE-8248-BAC44573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52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17099-D651-4B74-BB7A-1ABCAB90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956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614.1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4E311-4DB9-446F-968E-D7829E28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5757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RANDOM10 mean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fe7cb9b674747"/>
          <a:srcRect xmlns:a="http://schemas.openxmlformats.org/drawingml/2006/main" l="70" t="0" r="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876300"/>
            <a:ext cx="3238500" cy="2133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A2654-9C8C-464D-BB09-34688FF1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Compact HSV road-mask ray features + PPO MlpPolicy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CA42D-C84A-4B7C-81E2-06DA793F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Promising sample efficiency, but not uniformly robust.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2959E-A618-465F-AE7B-AA738849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BD6D4-1953-4E4D-821A-CD3B1893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1488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EE86DD-7EBB-4D40-87EB-FCA2D4F3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CARRACING-V3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2F7CF-953E-40B5-B5AD-94E41F3F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Problem and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B4053-C306-43AD-B284-1C9DC419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3D7B4-B9CA-4AD2-8898-96038532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1b2f8b22946f5"/>
          <a:srcRect xmlns:a="http://schemas.openxmlformats.org/drawingml/2006/main" l="0" t="9" r="0" b="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428750"/>
            <a:ext cx="4286250" cy="2819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97C36-F584-42FD-B695-98C1A237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Observation: 96 x 96 RGB frame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Action: continuous steering, gas, brake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Raw-pixel PPO must learn vision and control together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Limited Colab/course budget motivates compact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3A7B4-51CE-4236-99A7-86760D67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Goal: reduce perception burden without changing PPO itself.</a:t>
            </a:r>
          </a:p>
        </p:txBody>
      </p:sp>
    </p:spTree>
    <p:extLst>
      <p:ext uri="{BB962C8B-B14F-4D97-AF65-F5344CB8AC3E}">
        <p14:creationId xmlns:p14="http://schemas.microsoft.com/office/powerpoint/2010/main" val="13997450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790E85-9E2D-4312-9E7D-84471A89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3DFC0-06BB-47E8-AD7B-E9C37ECC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Research Question and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E8E0D-282D-442B-931D-3BE4A746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A1E02-8754-4A8A-B4DA-0B32037A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91E23-8303-4C28-9942-371ECA08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990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0044E-43DD-4C0D-B037-1821B06A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Can deterministic road-mask ray features make PPO more sample-efficient under limited training?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20AB9-FE34-427F-8245-C89EECA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9048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Reproducible wrapper: RGB -&gt; HSV mask -&gt; 9 rays</a:t>
            </a:r>
          </a:p>
          <a:p xmlns:a="http://schemas.openxmlformats.org/drawingml/2006/main">
            <a:pPr algn="l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- 14D base observation stacked to 56D</a:t>
            </a:r>
          </a:p>
          <a:p xmlns:a="http://schemas.openxmlformats.org/drawingml/2006/main">
            <a:pPr algn="l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Stable-Baselines3 PPO with MlpPolicy</a:t>
            </a:r>
          </a:p>
          <a:p xmlns:a="http://schemas.openxmlformats.org/drawingml/2006/main">
            <a:pPr algn="l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Evaluation from saved artifacts, not hidden notebook state</a:t>
            </a:r>
          </a:p>
          <a:p xmlns:a="http://schemas.openxmlformats.org/drawingml/2006/main">
            <a:pPr algn="l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Conservative claim: promising, not fully robust</a:t>
            </a:r>
          </a:p>
        </p:txBody>
      </p:sp>
    </p:spTree>
    <p:extLst>
      <p:ext uri="{BB962C8B-B14F-4D97-AF65-F5344CB8AC3E}">
        <p14:creationId xmlns:p14="http://schemas.microsoft.com/office/powerpoint/2010/main" val="986769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743975-E736-40EF-85C2-489ADDFF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CONTEXT 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FF118-D800-46C7-8D3E-729A8E38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Related Work / Baseline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537FD-44F9-4BDF-81E0-D95D8F56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AFE19-51A1-47B2-9D3F-357D2F09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87C5A-A4DD-47E7-94C8-F9149BEE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2943225" cy="46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152C7-669F-4D84-BD37-A7B7C9A7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504950"/>
            <a:ext cx="27717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D45EE-9BB2-4ADF-88CB-2693BB17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428750"/>
            <a:ext cx="6867525" cy="46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4F399-0C49-4CC6-BAC4-E2D6013A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04950"/>
            <a:ext cx="66960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Role in this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79B0B-5054-4AEE-A11C-E43B3FE9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9125"/>
            <a:ext cx="2943225" cy="46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75C87-909E-4522-B8DB-748A9E3B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65325"/>
            <a:ext cx="27717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8495E-21CE-400E-B08B-8D38CF44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889125"/>
            <a:ext cx="6867525" cy="46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4BE53-B720-46C0-925B-5E032584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65325"/>
            <a:ext cx="66960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standard continuous-control learner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3B0C2-3DD3-4281-9FED-C77CFD37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9500"/>
            <a:ext cx="2943225" cy="46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D6E1B-217C-43E4-A32E-3A58688F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25700"/>
            <a:ext cx="27717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Stable-Baselines3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FD9BF-F208-4FA5-8878-4F2C1FCA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49500"/>
            <a:ext cx="6867525" cy="46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EA893-5431-4A71-81A7-7E41BAA4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25700"/>
            <a:ext cx="66960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implementation, MlpPolicy, artifact reload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3ACB4-77D8-444B-A79C-3A67C9AF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2943225" cy="46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8888A-033F-41E5-8C07-15ED9CB6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86075"/>
            <a:ext cx="27717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CnnPolicy vs MlpPolicy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FAE78-6176-49FB-9C76-CFA283B5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09875"/>
            <a:ext cx="6867525" cy="46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F0D8D-ACA3-4263-A21E-21FB8750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86075"/>
            <a:ext cx="66960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image policy vs engineered vector 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8A7D2-A41E-4F3C-94F3-BE795B27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0250"/>
            <a:ext cx="2943225" cy="46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010E1-70DE-445E-9760-771C94ED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46450"/>
            <a:ext cx="27717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RL Zoo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A9049-1DE4-47F7-8238-26114D2D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270250"/>
            <a:ext cx="6867525" cy="46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F8034-A951-4311-B742-DB0E9AB6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6450"/>
            <a:ext cx="66960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CnnPolicy/image/4e6 timestep configuration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6865B-4681-41FA-BAAB-153CF146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0625"/>
            <a:ext cx="2943225" cy="46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F3C296-B47C-4162-86FB-DC058F84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06825"/>
            <a:ext cx="27717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HSV masking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2B42C-7510-4321-AF43-943F303F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30625"/>
            <a:ext cx="6867525" cy="46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0C557-EA6F-48F7-9532-49B4B154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06825"/>
            <a:ext cx="66960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deterministic road-mask preprocessing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72681E-46B6-467F-8ABC-1841CB48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RL Zoo was not re-run; it is not a beaten baseline.</a:t>
            </a:r>
          </a:p>
        </p:txBody>
      </p:sp>
    </p:spTree>
    <p:extLst>
      <p:ext uri="{BB962C8B-B14F-4D97-AF65-F5344CB8AC3E}">
        <p14:creationId xmlns:p14="http://schemas.microsoft.com/office/powerpoint/2010/main" val="616512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0A3B0F-8CA5-462A-8472-09BCFF37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WRAPPER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1F0CB-B140-4D09-8671-B5ACD037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Method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C1955-D98A-4A16-90F3-C9F1E8F0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BC378-C46E-415D-85DB-2D9F7EEA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28eea6cab4cd5"/>
          <a:stretch xmlns:a="http://schemas.openxmlformats.org/drawingml/2006/main"/>
        </p:blipFill>
        <p:spPr>
          <a:xfrm xmlns:a="http://schemas.openxmlformats.org/drawingml/2006/main">
            <a:off x="4464693" y="1143000"/>
            <a:ext cx="3072114" cy="4953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4A2EE-5112-449E-A2ED-E0243347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15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Schematic of implemented wrapper; not a measured experimental result.</a:t>
            </a:r>
          </a:p>
        </p:txBody>
      </p:sp>
    </p:spTree>
    <p:extLst>
      <p:ext uri="{BB962C8B-B14F-4D97-AF65-F5344CB8AC3E}">
        <p14:creationId xmlns:p14="http://schemas.microsoft.com/office/powerpoint/2010/main" val="1567624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07078-B69D-48DE-81E7-297C64E6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INTERPRETABLE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A472A-BFC2-4904-AE6D-22E6B4E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Ray Feature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A353-46B0-45BA-9CC4-8499DC4A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2914D-04F2-46B9-B2BB-1A5E0424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2433ca2964def"/>
          <a:srcRect xmlns:a="http://schemas.openxmlformats.org/drawingml/2006/main" l="0" t="178" r="0" b="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428750"/>
            <a:ext cx="3429000" cy="2247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FA8C7-BC8D-467F-B13F-15317A56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5524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Crop dashboard: CROP_BOTTOM = 84</a:t>
            </a:r>
          </a:p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HSV grass mask: [28,35,35] to [92,255,255]</a:t>
            </a:r>
          </a:p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Road mask: invert grass-like pixels</a:t>
            </a:r>
          </a:p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Ray origin: (48, 70)</a:t>
            </a:r>
          </a:p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- 9 angles: -70 to 70 degrees</a:t>
            </a:r>
          </a:p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Dynamic length: 45 + 35v</a:t>
            </a:r>
          </a:p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Angle squeeze: 1 - 0.18v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C81AD-163C-4E1D-8DAC-90F1FEEF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14D = 9 rays + 3 previous controls + speed + curvature</a:t>
            </a:r>
          </a:p>
        </p:txBody>
      </p:sp>
    </p:spTree>
    <p:extLst>
      <p:ext uri="{BB962C8B-B14F-4D97-AF65-F5344CB8AC3E}">
        <p14:creationId xmlns:p14="http://schemas.microsoft.com/office/powerpoint/2010/main" val="1419619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42D1A6-AFEE-4A75-AB71-BFD49E94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500K TIMESTEP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30F3F-611E-4B40-8E1A-68C5E053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PPO Training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D21FA-0252-4B74-A765-6A1D278A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D52E6-21E1-4CC1-87D3-1E36D946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D49A4-DCB1-472F-9A21-30B0E679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19812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C00AD-AEE7-4B27-AE03-942EB42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409700"/>
            <a:ext cx="18097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Setting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90D47-E204-4A43-9696-63D1E9C1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333500"/>
            <a:ext cx="29718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6CE19-94CE-45BB-B990-AAB58FA4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09700"/>
            <a:ext cx="28003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E7D6C-2819-4AF1-BEEF-247879B4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6833"/>
            <a:ext cx="19812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067A2-34A9-45C2-819F-FEB538A8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33033"/>
            <a:ext cx="18097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Algorithm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41CF2-47A3-49C2-8894-9F3B4887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6833"/>
            <a:ext cx="29718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45233-8DA6-42D8-8F03-F35802E8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33033"/>
            <a:ext cx="28003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SB3 PPO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D9646-D377-4C5B-A0A5-1C2E7B23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0167"/>
            <a:ext cx="19812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71B4C-9B18-429D-A205-D4881C4A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56367"/>
            <a:ext cx="18097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8F19F-D00D-428E-B821-805B14B8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80167"/>
            <a:ext cx="29718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42B88-497A-4602-9187-C85D1E5B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256367"/>
            <a:ext cx="28003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MlpPolicy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1857A-AFD1-46DC-9862-C0A47A83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3500"/>
            <a:ext cx="19812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3C4A3-D336-40C7-A2A1-E126D08B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79700"/>
            <a:ext cx="18097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868CD-13A0-4326-BD20-30BB7F97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03500"/>
            <a:ext cx="29718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B43C5-E8A7-4032-82DA-43668A84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679700"/>
            <a:ext cx="28003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256 x 256 MLP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9C0BB-2CA1-4901-9868-44C0725B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6833"/>
            <a:ext cx="19812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9C1A6-A023-4724-80DF-0AF935C2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03033"/>
            <a:ext cx="18097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Parallel envs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33BAD-4B24-40A1-A837-317659C2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26833"/>
            <a:ext cx="29718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400611-E2B2-418D-BF2F-50E32894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03033"/>
            <a:ext cx="28003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8855A0-0371-4B05-B600-70B5583A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0167"/>
            <a:ext cx="19812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F3AD14-35CE-4A1A-985C-6E96E685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26367"/>
            <a:ext cx="18097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n_steps / batch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44C432-98AE-4EA1-A287-E2C08E85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50167"/>
            <a:ext cx="29718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4B91CB-70C4-43D5-A623-C56A609B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26367"/>
            <a:ext cx="28003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1024 / 256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FE6E61-9B55-4BFC-B3C9-6FFF7896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3500"/>
            <a:ext cx="19812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545EC5-59D9-4DED-9D7C-19BEBA79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49700"/>
            <a:ext cx="18097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gamma / GAE lambda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D8A150-C992-469A-9156-AB553819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73500"/>
            <a:ext cx="29718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DDF4A4-1122-4BD9-A334-5DB5AE21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949700"/>
            <a:ext cx="28003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0.99 / 0.95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D46D46-C970-429D-B875-4853663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6833"/>
            <a:ext cx="19812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07596C-35EE-41EC-8E07-35742EE2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73033"/>
            <a:ext cx="18097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Entropy coef.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68EB2C-6E7E-440E-820B-3865FAA5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96833"/>
            <a:ext cx="29718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4F567E-FD5F-486A-B5F9-01D0CC5A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373033"/>
            <a:ext cx="28003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0.01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7611E6-6FC9-4320-8540-D53031D9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0167"/>
            <a:ext cx="19812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1DF64C-C0AD-4F85-AAAE-8743F5A4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96367"/>
            <a:ext cx="18097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Action handling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2FA8D9-2F7F-463D-BDD1-E4023B5E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20167"/>
            <a:ext cx="2971800" cy="423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8B6C16-B0AC-41B5-9EC2-D58E3F07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796367"/>
            <a:ext cx="280035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EMA alpha 0.65; repeat 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28E462-6976-4B8F-AE02-98B953EE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095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CFBC96-8CFE-4814-A0C1-2A560BF0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57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Reward shaping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E1202F-8848-4368-A72F-ECD56536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193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Training aid only; raw reward is the final reporting metric.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FB50FD-E59A-40A2-B3B7-053DD34F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095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02BDE2-0045-4647-BD38-DC9DAD3B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PPO unchanged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AEA8F1-3C47-4AA7-AB09-C6359E35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480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The contribution is the deterministic wrapper and evaluation package.</a:t>
            </a:r>
          </a:p>
        </p:txBody>
      </p:sp>
    </p:spTree>
    <p:extLst>
      <p:ext uri="{BB962C8B-B14F-4D97-AF65-F5344CB8AC3E}">
        <p14:creationId xmlns:p14="http://schemas.microsoft.com/office/powerpoint/2010/main" val="912450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C1B51E-45CB-45A9-BC67-6199520D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ARTIFACT-BASED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D787F-B92A-44E1-A3B5-D2F9353B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Evaluation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19555-06B6-42CB-B2C2-C29977D5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F319E-2080-4888-9989-21F5F291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6BBE8-1CB7-4183-89BE-6E87B269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E6AFE-B330-45C7-A018-264CAA4F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504950"/>
            <a:ext cx="2676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CB32A-D187-46A1-AB99-4FCA4DBD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428750"/>
            <a:ext cx="7058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2B3CE-65BE-4528-9F68-CB633175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04950"/>
            <a:ext cx="688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626A7-0856-4A13-9F8A-EFFE03D5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80BB1-267A-43D3-8A50-FED36FFE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81200"/>
            <a:ext cx="2676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Reload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7D258-BB8F-4E9B-BCB3-1BB01D68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05000"/>
            <a:ext cx="7058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00238-278A-4322-BE93-2D77513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81200"/>
            <a:ext cx="688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saved PPO model + VecNormalize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EB79A-868D-42D1-B697-343469C0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28203-C757-4CD5-9AF9-45350FFE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57450"/>
            <a:ext cx="2676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COMPARE5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3EDE3-A06B-4136-9599-3125CA5E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81250"/>
            <a:ext cx="7058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1546E-5042-4E8B-B0F1-BABE83C9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688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42, 123, 777, 999, 2026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E81C5-D766-40B2-9B90-9B70B864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9DB05-6C77-49F6-8671-C21C1178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33700"/>
            <a:ext cx="2676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RANDOM10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D093F-2819-4B5F-AC65-414E9796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57500"/>
            <a:ext cx="7058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F72C2-E853-44DD-B906-5AA58738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688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deterministic seeds from master seed 42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9AFFA-1163-4A7E-A6B8-1C9CF191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562B4-E83D-46F8-AE16-524EBD28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09950"/>
            <a:ext cx="2676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48DBE-5193-4EBF-8565-A2BA7981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33750"/>
            <a:ext cx="7058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62F3D-FFE9-45F7-86CD-0B23234F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688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raw reward, shaped reward, frames, termination label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C10C35-7606-4551-8AE0-8EEC9E21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847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1298E-A501-42FA-B832-7AE5EA46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86200"/>
            <a:ext cx="2676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0338B7-0D37-4A00-9A6B-DA1AE62E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10000"/>
            <a:ext cx="7058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18C68-301D-445C-AD19-3521B95A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688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CSV tables and charts are quantitative; videos are qualitative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D80C44-371B-4A38-A593-8140E5C6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Raw reward is the headline metric.</a:t>
            </a:r>
          </a:p>
        </p:txBody>
      </p:sp>
    </p:spTree>
    <p:extLst>
      <p:ext uri="{BB962C8B-B14F-4D97-AF65-F5344CB8AC3E}">
        <p14:creationId xmlns:p14="http://schemas.microsoft.com/office/powerpoint/2010/main" val="3713494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29B84C-8794-490D-8613-F0310413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DIAGNOSTIC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07E76-8578-4694-B4A4-A251C76B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Training Curve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E797B-B98C-4327-AD6C-71FA4410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F4D93-98FB-4548-BFF4-0183052C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244ca692d4710"/>
          <a:stretch xmlns:a="http://schemas.openxmlformats.org/drawingml/2006/main"/>
        </p:blipFill>
        <p:spPr>
          <a:xfrm xmlns:a="http://schemas.openxmlformats.org/drawingml/2006/main">
            <a:off x="1000125" y="1448395"/>
            <a:ext cx="9239250" cy="358020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6BCBC-3234-4853-B6A0-8EF5A2F9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Learning improves late in training, but reward remains noisy. Final judgment comes from multi-seed evaluation.</a:t>
            </a:r>
          </a:p>
        </p:txBody>
      </p:sp>
    </p:spTree>
    <p:extLst>
      <p:ext uri="{BB962C8B-B14F-4D97-AF65-F5344CB8AC3E}">
        <p14:creationId xmlns:p14="http://schemas.microsoft.com/office/powerpoint/2010/main" val="4014511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2E3425-4E1B-4656-99BC-0FF43AEE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MULTI-SEED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6DB0D-ECDB-48C4-9711-FB21033D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Final Reward 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FBCE0-FC0B-4917-97C6-C609B9EC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0A280-334E-482F-9295-5605563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ac8d19f3d4f2d"/>
          <a:stretch xmlns:a="http://schemas.openxmlformats.org/drawingml/2006/main"/>
        </p:blipFill>
        <p:spPr>
          <a:xfrm xmlns:a="http://schemas.openxmlformats.org/drawingml/2006/main">
            <a:off x="962025" y="1295400"/>
            <a:ext cx="96012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C6AA5-0DD5-4A2D-980A-EE6FFD55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2476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EE65B-A656-40CE-9308-8F62CE6C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39A9E-FD49-4767-8CF9-66E25C4E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2387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929.7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17EC0-8576-435D-ADE7-53A3DB40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6007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best raw reward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A7716-A1AF-4557-9D7E-B45B2D3F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95875"/>
            <a:ext cx="2476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E4D37-65D1-4D17-BD15-20AB6CAF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95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9BD98-3B4E-469B-B793-58303F85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387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614.1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A6F13-09C7-4742-B18D-8AAB026C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6007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RANDOM10 mean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41000-ED5C-404A-B45A-90B97110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95875"/>
            <a:ext cx="2476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A227E-D39F-4DEB-9F7B-DE701F26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95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F572D-B132-4A47-AF21-72245BEC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387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55-56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37526-9D8E-437B-95B7-75D4E0A5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6007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failure seeds</a:t>
            </a:r>
          </a:p>
        </p:txBody>
      </p:sp>
    </p:spTree>
    <p:extLst>
      <p:ext uri="{BB962C8B-B14F-4D97-AF65-F5344CB8AC3E}">
        <p14:creationId xmlns:p14="http://schemas.microsoft.com/office/powerpoint/2010/main" val="4170278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095719-F10D-4992-940B-47AB33C6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TABLES SUMMARIZED FOR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FC2F8-5FF9-49E9-A903-D3857591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Seed-Level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B38F3-55CD-4CF3-84CF-C6DEA179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C7BB6-9417-42EE-B014-C65324D4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33595-6456-4C8D-A023-4AE38D4F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318846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6A3F3-6353-49E7-BC9D-36953D4E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04950"/>
            <a:ext cx="1147396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83C70-AAF6-4B7B-9111-5BB574F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996" y="1428750"/>
            <a:ext cx="1099038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0A167-9A84-48BF-A823-FC18F2C2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721" y="1504950"/>
            <a:ext cx="927588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66853-3395-4039-82AF-93608A75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035" y="1428750"/>
            <a:ext cx="1099038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8CC07-A7A8-47F9-9DEB-7BC092C9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760" y="1504950"/>
            <a:ext cx="927588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Std.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57DB6-BB34-414C-AD14-14B4719C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073" y="1428750"/>
            <a:ext cx="1099038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3257D-8CB1-4FB6-B4C3-E1ABAAB5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798" y="1504950"/>
            <a:ext cx="927588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9EC3C-1ACB-4DD7-8B11-032D31F0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112" y="1428750"/>
            <a:ext cx="1099038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1E1F3-16CB-4823-939E-D05A362A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837" y="1504950"/>
            <a:ext cx="927588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Max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8216C-C1D6-432D-B8D7-5BA77EE4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8500"/>
            <a:ext cx="1318846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AB23C-A498-4BBB-B18F-45EFBCD4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4700"/>
            <a:ext cx="1147396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COMPARE5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4BA83-7F38-4133-A78C-76116D9C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996" y="1968500"/>
            <a:ext cx="1099038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5A9C5-C7C0-4D30-99BE-94C62600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721" y="2044700"/>
            <a:ext cx="927588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609.1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E9E82-7F9D-45B2-B437-E8C0C785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035" y="1968500"/>
            <a:ext cx="1099038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E8092-F63B-4A07-8F53-557743E8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760" y="2044700"/>
            <a:ext cx="927588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348.2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D4E64-C4F7-4995-A75E-63FB3564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073" y="1968500"/>
            <a:ext cx="1099038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3DB76-3B49-4FB8-9811-2BFC6B2B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798" y="2044700"/>
            <a:ext cx="927588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210.8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5C0D5-58E3-47D5-A969-D1EF8A80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112" y="1968500"/>
            <a:ext cx="1099038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D3ABC-AA1A-45A3-BE87-8A8F8B9E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837" y="2044700"/>
            <a:ext cx="927588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896.0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4F4BE-43BC-427D-8897-E6FE5B31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8250"/>
            <a:ext cx="1318846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928F7-DC80-4C30-BDA3-61BBBDA1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84450"/>
            <a:ext cx="1147396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RANDOM10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3A037-765B-48B2-8677-EFD0FE0E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996" y="2508250"/>
            <a:ext cx="1099038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3C9E95-CB74-45EC-B64E-D7EAA545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721" y="2584450"/>
            <a:ext cx="927588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614.1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EF3324-7754-4ACF-964F-547D0EF0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035" y="2508250"/>
            <a:ext cx="1099038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56174-8C6E-49B6-B636-437BAA28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760" y="2584450"/>
            <a:ext cx="927588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347.8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C6CFC5-AADA-48BC-BBE3-0A8551BF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073" y="2508250"/>
            <a:ext cx="1099038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B5C45C-9138-43A8-BF83-A183A5A0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798" y="2584450"/>
            <a:ext cx="927588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55.5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273B18-90DE-48FD-A254-57007062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112" y="2508250"/>
            <a:ext cx="1099038" cy="53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83EA27-621D-4DDD-9567-065F47D3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837" y="2584450"/>
            <a:ext cx="927588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929.7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08F633-67DE-46C6-AB35-0693B915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3810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Strong seeds: 958682846 reaches 929.7</a:t>
            </a:r>
          </a:p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Success seed 2026 reaches 893.33</a:t>
            </a:r>
          </a:p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Failure seeds: 599310825 = 55.51, 440213415 = 56.17</a:t>
            </a:r>
          </a:p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High variance prevents a solved/robust claim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76243A-EC96-4B5A-85CB-42C6EDC4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The best episode and the failure seeds both matter.</a:t>
            </a:r>
          </a:p>
        </p:txBody>
      </p:sp>
    </p:spTree>
    <p:extLst>
      <p:ext uri="{BB962C8B-B14F-4D97-AF65-F5344CB8AC3E}">
        <p14:creationId xmlns:p14="http://schemas.microsoft.com/office/powerpoint/2010/main" val="15815067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4A6D79-461F-42D2-BED8-D50960D8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VIDEO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C4FF4-3999-4ED5-B1C9-33E5EA05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Qualitative Success and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FBC77-5B4F-408E-8454-7642C1D9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A0E4F-4D15-4FD2-B1CA-41D434AC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de6435b5340d4"/>
          <a:stretch xmlns:a="http://schemas.openxmlformats.org/drawingml/2006/main"/>
        </p:blipFill>
        <p:spPr>
          <a:xfrm xmlns:a="http://schemas.openxmlformats.org/drawingml/2006/main">
            <a:off x="2066655" y="1238250"/>
            <a:ext cx="7106191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EA018-D47F-4DDF-8FA0-6D298B72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721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Qualitative only; CSV tables remain the quantitative evidence.</a:t>
            </a:r>
          </a:p>
        </p:txBody>
      </p:sp>
    </p:spTree>
    <p:extLst>
      <p:ext uri="{BB962C8B-B14F-4D97-AF65-F5344CB8AC3E}">
        <p14:creationId xmlns:p14="http://schemas.microsoft.com/office/powerpoint/2010/main" val="13428598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C24E46-0251-45D2-8CF1-ABF5C5FB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CONSERVATIVE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3AF80-3817-45FB-B615-A7683950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Limitations and 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4658C-C805-4D6D-8D12-05554B6D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886C7-9843-4C9B-A997-3F8F740B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3AB36-2C08-4544-835E-D1B54904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9715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Missing matched RL Zoo CnnPolicy baseline</a:t>
            </a:r>
          </a:p>
          <a:p xmlns:a="http://schemas.openxmlformats.org/drawingml/2006/main">
            <a:pPr algn="l">
              <a:defRPr sz="17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HSV thresholds may not transfer under visual changes</a:t>
            </a:r>
          </a:p>
          <a:p xmlns:a="http://schemas.openxmlformats.org/drawingml/2006/main">
            <a:pPr algn="l">
              <a:defRPr sz="17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Local rays are weak after off-road drift</a:t>
            </a:r>
          </a:p>
          <a:p xmlns:a="http://schemas.openxmlformats.org/drawingml/2006/main">
            <a:pPr algn="l">
              <a:defRPr sz="17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Action smoothing can delay emergency correction</a:t>
            </a:r>
          </a:p>
          <a:p xmlns:a="http://schemas.openxmlformats.org/drawingml/2006/main">
            <a:pPr algn="l">
              <a:defRPr sz="17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Only one final training run; no training-seed statistics</a:t>
            </a:r>
          </a:p>
          <a:p xmlns:a="http://schemas.openxmlformats.org/drawingml/2006/main">
            <a:pPr algn="l">
              <a:defRPr sz="17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Future ablations: no smoothing, fixed rays, no curvature, no shaping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6FBF9-1956-4B13-ACB5-79E6D244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435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Future work is not reported as completed work.</a:t>
            </a:r>
          </a:p>
        </p:txBody>
      </p:sp>
    </p:spTree>
    <p:extLst>
      <p:ext uri="{BB962C8B-B14F-4D97-AF65-F5344CB8AC3E}">
        <p14:creationId xmlns:p14="http://schemas.microsoft.com/office/powerpoint/2010/main" val="13438099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1BB5AA-B00D-4916-8667-C99DC496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FINAL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A0DF5-175F-4146-A8D0-1BC7009A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Conclusion and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D58C4-2FB7-4161-9370-5F808B55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Joe /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0EC23-10EC-4D94-A139-6274C05A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83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7839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5E4D1-F828-408D-A0F6-331C2E1D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Road-mask ray features can produce high-reward episodes with 500k PPO timesteps.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722A2-2093-4B07-A517-A02C0935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733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Best raw reward: 929.7</a:t>
            </a:r>
          </a:p>
          <a:p xmlns:a="http://schemas.openxmlformats.org/drawingml/2006/main">
            <a:pPr algn="l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RANDOM10 mean: 614.1 with high variance</a:t>
            </a:r>
          </a:p>
          <a:p xmlns:a="http://schemas.openxmlformats.org/drawingml/2006/main">
            <a:pPr algn="l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Not uniformly robust; low-reward seeds remain</a:t>
            </a:r>
          </a:p>
          <a:p xmlns:a="http://schemas.openxmlformats.org/drawingml/2006/main">
            <a:pPr algn="l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- Package includes notebook, report source, figures, tables, slides, and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53B9C-45A9-4DE3-97A0-4807E0D0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9446B-E932-4334-9017-3E21B3D8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578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5F9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5F99"/>
                </a:solidFill>
                <a:latin typeface="Aptos"/>
                <a:ea typeface="Aptos"/>
                <a:cs typeface="Aptos"/>
              </a:rPr>
              <a:t>GitHub: https://github.com/UltraLamb/CarRacingV3-PPO-RayFeatures</a:t>
            </a:r>
          </a:p>
        </p:txBody>
      </p:sp>
    </p:spTree>
    <p:extLst>
      <p:ext uri="{BB962C8B-B14F-4D97-AF65-F5344CB8AC3E}">
        <p14:creationId xmlns:p14="http://schemas.microsoft.com/office/powerpoint/2010/main" val="929777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2026-06-20T17:44:06.7220000Z</dcterms:created>
  <dcterms:modified xsi:type="dcterms:W3CDTF">2026-06-20T17:44:06.7220000Z</dcterms:modified>
</coreProperties>
</file>