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32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833A"/>
                </a:solidFill>
                <a:latin typeface="Calibri"/>
              </a:rPr>
              <a:t>IMAGE PROCESSING  · 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800" b="1" i="0">
                <a:solidFill>
                  <a:srgbClr val="FFFFFF"/>
                </a:solidFill>
                <a:latin typeface="Cambria"/>
              </a:rPr>
              <a:t>Image Processing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10241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CFE3E6"/>
                </a:solidFill>
                <a:latin typeface="Calibri"/>
              </a:rPr>
              <a:t>Feature-Based Image Processing and Reinforcement Learning for CarRacing-v3</a:t>
            </a:r>
          </a:p>
        </p:txBody>
      </p:sp>
      <p:sp>
        <p:nvSpPr>
          <p:cNvPr id="6" name="Oval 5"/>
          <p:cNvSpPr/>
          <p:nvPr/>
        </p:nvSpPr>
        <p:spPr>
          <a:xfrm>
            <a:off x="896112" y="4526280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1288" y="4526280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426464" y="4526280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91640" y="4526280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956816" y="4526280"/>
            <a:ext cx="146304" cy="146304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221992" y="4526280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487168" y="4526280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752344" y="4526280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17520" y="4526280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983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Joe  ·  Student ID 1103820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715000"/>
            <a:ext cx="2115921" cy="475488"/>
          </a:xfrm>
          <a:prstGeom prst="roundRect">
            <a:avLst>
              <a:gd name="adj" fmla="val 50000"/>
            </a:avLst>
          </a:prstGeom>
          <a:solidFill>
            <a:srgbClr val="1B3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33271" y="5879592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5797296"/>
            <a:ext cx="165872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16-D base observation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13201" y="5715000"/>
            <a:ext cx="1858060" cy="475488"/>
          </a:xfrm>
          <a:prstGeom prst="roundRect">
            <a:avLst>
              <a:gd name="adj" fmla="val 50000"/>
            </a:avLst>
          </a:prstGeom>
          <a:solidFill>
            <a:srgbClr val="1B3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377793" y="5879592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24681" y="5797296"/>
            <a:ext cx="14008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PPO  938.87 @ 500K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99862" y="5715000"/>
            <a:ext cx="1858060" cy="475488"/>
          </a:xfrm>
          <a:prstGeom prst="roundRect">
            <a:avLst>
              <a:gd name="adj" fmla="val 50000"/>
            </a:avLst>
          </a:prstGeom>
          <a:solidFill>
            <a:srgbClr val="1B3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464454" y="5879592"/>
            <a:ext cx="146304" cy="146304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11342" y="5797296"/>
            <a:ext cx="14008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SAC  938.51 @ 400K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833A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75895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4303A"/>
                </a:solidFill>
                <a:latin typeface="Cambria"/>
              </a:rPr>
              <a:t>From raw pixels to a compact, inspectable representation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20240"/>
            <a:ext cx="5257800" cy="2834640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E6F79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78608"/>
            <a:ext cx="4800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4303A"/>
                </a:solidFill>
                <a:latin typeface="Calibri"/>
              </a:rPr>
              <a:t>Training a policy directly on the 96×96×3 pixel frame couples perception and control. It is sample-hungry, opaque, and expensive to debug on a course budget.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57800" cy="283464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4808" y="21488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FE3E6"/>
                </a:solidFill>
                <a:latin typeface="Calibri"/>
              </a:rPr>
              <a:t>THIS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8" y="2578608"/>
            <a:ext cx="4800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FFFFF"/>
                </a:solidFill>
                <a:latin typeface="Calibri"/>
              </a:rPr>
              <a:t>Move perception into a deterministic image-processing wrapper. Off-the-shelf PPO and SAC then learn only control on a compact 16-D feature vector.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5029200"/>
            <a:ext cx="10762488" cy="1234440"/>
          </a:xfrm>
          <a:prstGeom prst="roundRect">
            <a:avLst>
              <a:gd name="adj" fmla="val 6000"/>
            </a:avLst>
          </a:prstGeom>
          <a:solidFill>
            <a:srgbClr val="14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029200"/>
            <a:ext cx="60350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27,648 </a:t>
            </a:r>
            <a:r>
              <a:rPr sz="2100" b="0" i="0">
                <a:solidFill>
                  <a:srgbClr val="CFE3E6"/>
                </a:solidFill>
                <a:latin typeface="Calibri"/>
              </a:rPr>
              <a:t>pixels  →  </a:t>
            </a:r>
            <a:r>
              <a:rPr sz="4400" b="1" i="0">
                <a:solidFill>
                  <a:srgbClr val="E8833A"/>
                </a:solidFill>
                <a:latin typeface="Cambria"/>
              </a:rPr>
              <a:t>16</a:t>
            </a:r>
            <a:r>
              <a:rPr sz="2100" b="0" i="0">
                <a:solidFill>
                  <a:srgbClr val="CFE3E6"/>
                </a:solidFill>
                <a:latin typeface="Calibri"/>
              </a:rPr>
              <a:t> 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5029200"/>
            <a:ext cx="379476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FE3E6"/>
                </a:solidFill>
                <a:latin typeface="Calibri"/>
              </a:rPr>
              <a:t>Each frame becomes a vector an MLP can act on — four frames stack to 64-D.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833A"/>
                </a:solidFill>
                <a:latin typeface="Calibri"/>
              </a:rPr>
              <a:t>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75895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4303A"/>
                </a:solidFill>
                <a:latin typeface="Cambria"/>
              </a:rPr>
              <a:t>Gymnasium CarRacing-v3</a:t>
            </a:r>
          </a:p>
        </p:txBody>
      </p:sp>
      <p:pic>
        <p:nvPicPr>
          <p:cNvPr id="5" name="Picture 4" descr="env_fram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521208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59436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E7C84"/>
                </a:solidFill>
                <a:latin typeface="Calibri"/>
              </a:rPr>
              <a:t>Top-down rendered driving frame (road, grass, car).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12064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0E7C86"/>
                </a:solidFill>
                <a:latin typeface="Calibri"/>
              </a:rPr>
              <a:t>96×96 RGB frame  </a:t>
            </a:r>
            <a:r>
              <a:rPr sz="1500" b="0" i="0">
                <a:solidFill>
                  <a:srgbClr val="14303A"/>
                </a:solidFill>
                <a:latin typeface="Calibri"/>
              </a:rPr>
              <a:t>— top-down view around the car.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0E7C86"/>
                </a:solidFill>
                <a:latin typeface="Calibri"/>
              </a:rPr>
              <a:t>Continuous action  </a:t>
            </a:r>
            <a:r>
              <a:rPr sz="1500" b="0" i="0">
                <a:solidFill>
                  <a:srgbClr val="14303A"/>
                </a:solidFill>
                <a:latin typeface="Calibri"/>
              </a:rPr>
              <a:t>[steer ∈ −1…1, gas, brake].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0E7C86"/>
                </a:solidFill>
                <a:latin typeface="Calibri"/>
              </a:rPr>
              <a:t>Reward  </a:t>
            </a:r>
            <a:r>
              <a:rPr sz="1500" b="0" i="0">
                <a:solidFill>
                  <a:srgbClr val="14303A"/>
                </a:solidFill>
                <a:latin typeface="Calibri"/>
              </a:rPr>
              <a:t>= progress along the track; penalties off-track.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0E7C86"/>
                </a:solidFill>
                <a:latin typeface="Calibri"/>
              </a:rPr>
              <a:t>Randomized tracks  </a:t>
            </a:r>
            <a:r>
              <a:rPr sz="1500" b="0" i="0">
                <a:solidFill>
                  <a:srgbClr val="14303A"/>
                </a:solidFill>
                <a:latin typeface="Calibri"/>
              </a:rPr>
              <a:t>each episode → must generalize, not memorize.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833A"/>
                </a:solidFill>
                <a:latin typeface="Calibri"/>
              </a:rPr>
              <a:t>WHY IMAGE-PROCESSING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75895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4303A"/>
                </a:solidFill>
                <a:latin typeface="Cambria"/>
              </a:rPr>
              <a:t>Two ways to drive from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20240"/>
            <a:ext cx="5257800" cy="329184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" y="2194560"/>
            <a:ext cx="475488" cy="475488"/>
          </a:xfrm>
          <a:prstGeom prst="ellipse">
            <a:avLst/>
          </a:prstGeom>
          <a:solidFill>
            <a:srgbClr val="5E6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49424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249424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5E6F79"/>
                </a:solidFill>
                <a:latin typeface="Cambria"/>
              </a:rPr>
              <a:t>End-to-end pixels (CNN)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47548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14303A"/>
                </a:solidFill>
                <a:latin typeface="Calibri"/>
              </a:rPr>
              <a:t>•  Learns perception and control jointly.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14303A"/>
                </a:solidFill>
                <a:latin typeface="Calibri"/>
              </a:rPr>
              <a:t>•  General, but sample-hungry.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14303A"/>
                </a:solidFill>
                <a:latin typeface="Calibri"/>
              </a:rPr>
              <a:t>•  Opaque and hard to debug.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14303A"/>
                </a:solidFill>
                <a:latin typeface="Calibri"/>
              </a:rPr>
              <a:t>•  Heavy compute footprint.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257800" cy="329184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64808" y="2194560"/>
            <a:ext cx="475488" cy="475488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2249424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4888" y="2249424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Feature-based  (this work)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971800"/>
            <a:ext cx="47548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•  Deterministic CV → compact geometry.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•  Sample-efficient and inspectable.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•  MLP-sized policy input (16-D / 64-D).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•  Every stage is auditable.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486400"/>
            <a:ext cx="107624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6E7C84"/>
                </a:solidFill>
                <a:latin typeface="Calibri"/>
              </a:rPr>
              <a:t>No raw-pixel CNN policy is trained here — the contribution is the perception layer, not a new learner.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833A"/>
                </a:solidFill>
                <a:latin typeface="Calibri"/>
              </a:rPr>
              <a:t>CONTRIBUTION ·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75895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4303A"/>
                </a:solidFill>
                <a:latin typeface="Cambria"/>
              </a:rPr>
              <a:t>The image-processing pipeline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85BC87C-0E6C-A2DD-2A7D-DAC0B0F74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963" y="1454135"/>
            <a:ext cx="9601767" cy="54038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833A"/>
                </a:solidFill>
                <a:latin typeface="Calibri"/>
              </a:rPr>
              <a:t>PIPELINE · STEPS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75895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4303A"/>
                </a:solidFill>
                <a:latin typeface="Cambria"/>
              </a:rPr>
              <a:t>HSV road-mask extraction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993392"/>
            <a:ext cx="5577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4303A"/>
                </a:solidFill>
                <a:latin typeface="Cambria"/>
              </a:rPr>
              <a:t>Crop + RGB→HSV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414016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E7C84"/>
                </a:solidFill>
                <a:latin typeface="Calibri"/>
              </a:rPr>
              <a:t>Keep the driving region; HSV separates color from brightness.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035808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669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017520"/>
            <a:ext cx="5577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4303A"/>
                </a:solidFill>
                <a:latin typeface="Cambria"/>
              </a:rPr>
              <a:t>Threshold grass → complement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3438144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E7C84"/>
                </a:solidFill>
                <a:latin typeface="Calibri"/>
              </a:rPr>
              <a:t>Select the green band, invert to get the road.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05993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151376"/>
            <a:ext cx="5669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4041648"/>
            <a:ext cx="5577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4303A"/>
                </a:solidFill>
                <a:latin typeface="Cambria"/>
              </a:rPr>
              <a:t>3×3 morphological opening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4462272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E7C84"/>
                </a:solidFill>
                <a:latin typeface="Calibri"/>
              </a:rPr>
              <a:t>Erode then dilate — removes speckle and pin-holes.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08406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175504"/>
            <a:ext cx="5669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5065776"/>
            <a:ext cx="5577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4303A"/>
                </a:solidFill>
                <a:latin typeface="Cambria"/>
              </a:rPr>
              <a:t>Connected components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5486400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E7C84"/>
                </a:solidFill>
                <a:latin typeface="Calibri"/>
              </a:rPr>
              <a:t>Keep the road blob at the car; drop stray patches.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2103120"/>
            <a:ext cx="3977639" cy="2286000"/>
          </a:xfrm>
          <a:prstGeom prst="roundRect">
            <a:avLst>
              <a:gd name="adj" fmla="val 6000"/>
            </a:avLst>
          </a:prstGeom>
          <a:solidFill>
            <a:srgbClr val="14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22860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HSV GRASS BAND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743200"/>
            <a:ext cx="3474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onsolas"/>
              </a:rPr>
              <a:t>[28, 35, 35]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onsolas"/>
              </a:rPr>
              <a:t>– [92, 255, 255]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0" i="0">
                <a:solidFill>
                  <a:srgbClr val="CFE3E6"/>
                </a:solidFill>
                <a:latin typeface="Calibri"/>
              </a:rPr>
              <a:t>H ∈ 0–179,  S,V ∈ 0–255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4617720"/>
            <a:ext cx="3977639" cy="1417320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0" y="4800600"/>
            <a:ext cx="34290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7C86"/>
                </a:solidFill>
                <a:latin typeface="Consolas"/>
              </a:rPr>
              <a:t>road = ¬ grass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E7C84"/>
                </a:solidFill>
                <a:latin typeface="Calibri"/>
              </a:rPr>
              <a:t>Selecting the uniform grass and inverting is more stable than thresholding the road directly.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833A"/>
                </a:solidFill>
                <a:latin typeface="Calibri"/>
              </a:rPr>
              <a:t>PIPELINE ·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75895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4303A"/>
                </a:solidFill>
                <a:latin typeface="Cambria"/>
              </a:rPr>
              <a:t>Ray / radar feature extraction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10762488" cy="3246120"/>
          </a:xfrm>
          <a:prstGeom prst="roundRect">
            <a:avLst>
              <a:gd name="adj" fmla="val 4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ay_fan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184" y="2057400"/>
            <a:ext cx="6895151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5349240"/>
            <a:ext cx="1076248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4303A"/>
                </a:solidFill>
                <a:latin typeface="Calibri"/>
              </a:rPr>
              <a:t>Nine rays span </a:t>
            </a:r>
            <a:r>
              <a:rPr sz="1500" b="1" i="0">
                <a:solidFill>
                  <a:srgbClr val="0E7C86"/>
                </a:solidFill>
                <a:latin typeface="Calibri"/>
              </a:rPr>
              <a:t>−70°…+70°</a:t>
            </a:r>
            <a:r>
              <a:rPr sz="1500" b="0" i="0">
                <a:solidFill>
                  <a:srgbClr val="14303A"/>
                </a:solidFill>
                <a:latin typeface="Calibri"/>
              </a:rPr>
              <a:t>, march to the mask boundary, and return normalized distances </a:t>
            </a:r>
            <a:r>
              <a:rPr sz="1500" b="1" i="0">
                <a:solidFill>
                  <a:srgbClr val="C96A28"/>
                </a:solidFill>
                <a:latin typeface="Calibri"/>
              </a:rPr>
              <a:t>r₀…r₈</a:t>
            </a:r>
            <a:r>
              <a:rPr sz="1500" b="0" i="0">
                <a:solidFill>
                  <a:srgbClr val="14303A"/>
                </a:solidFill>
                <a:latin typeface="Calibri"/>
              </a:rPr>
              <a:t> — a compact profile of local road openness.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833A"/>
                </a:solidFill>
                <a:latin typeface="Calibri"/>
              </a:rPr>
              <a:t>FEATURE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75895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4303A"/>
                </a:solidFill>
                <a:latin typeface="Cambria"/>
              </a:rPr>
              <a:t>16-D base → 64-D stacked observation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20240"/>
            <a:ext cx="10762488" cy="2743200"/>
          </a:xfrm>
          <a:prstGeom prst="roundRect">
            <a:avLst>
              <a:gd name="adj" fmla="val 4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obs_anatomy_1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985" y="2148840"/>
            <a:ext cx="8533269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4892040"/>
            <a:ext cx="1076248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303A"/>
                </a:solidFill>
                <a:latin typeface="Calibri"/>
              </a:rPr>
              <a:t>16-D = </a:t>
            </a:r>
            <a:r>
              <a:rPr sz="1500" b="0" i="0">
                <a:solidFill>
                  <a:srgbClr val="14303A"/>
                </a:solidFill>
                <a:latin typeface="Calibri"/>
              </a:rPr>
              <a:t>9 ray distances + 3 smoothed actions + speed + curvature + front-ray change + left–right asymmetry.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6E7C84"/>
                </a:solidFill>
                <a:latin typeface="Calibri"/>
              </a:rPr>
              <a:t>Four consecutive observations stack (×4 → 64-D) to capture short-horizon motion. PPO and SAC share this exact stream.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833A"/>
                </a:solidFill>
                <a:latin typeface="Calibri"/>
              </a:rPr>
              <a:t>EXPERIMENT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75895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4303A"/>
                </a:solidFill>
                <a:latin typeface="Cambria"/>
              </a:rPr>
              <a:t>One perception layer, two off-the-shelf learners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514600"/>
            <a:ext cx="4114800" cy="192024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Shared feature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FE3E6"/>
                </a:solidFill>
                <a:latin typeface="Calibri"/>
              </a:rPr>
              <a:t>16-D base → 64-D stacked observation (held constant)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66360" y="3017520"/>
            <a:ext cx="1097280" cy="457200"/>
          </a:xfrm>
          <a:prstGeom prst="rightArrow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5166360" y="3749039"/>
            <a:ext cx="1097280" cy="457200"/>
          </a:xfrm>
          <a:prstGeom prst="rightArrow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46520" y="2377440"/>
            <a:ext cx="4572000" cy="960120"/>
          </a:xfrm>
          <a:prstGeom prst="roundRect">
            <a:avLst>
              <a:gd name="adj" fmla="val 10000"/>
            </a:avLst>
          </a:prstGeom>
          <a:solidFill>
            <a:srgbClr val="14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2062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PPO</a:t>
            </a:r>
            <a:r>
              <a:rPr sz="1400" b="0" i="0">
                <a:solidFill>
                  <a:srgbClr val="CFE3E6"/>
                </a:solidFill>
                <a:latin typeface="Calibri"/>
              </a:rPr>
              <a:t>   completed 500K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3611880"/>
            <a:ext cx="4572000" cy="960120"/>
          </a:xfrm>
          <a:prstGeom prst="roundRect">
            <a:avLst>
              <a:gd name="adj" fmla="val 10000"/>
            </a:avLst>
          </a:prstGeom>
          <a:solidFill>
            <a:srgbClr val="1B3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3611880"/>
            <a:ext cx="42062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SAC</a:t>
            </a:r>
            <a:r>
              <a:rPr sz="1400" b="0" i="0">
                <a:solidFill>
                  <a:srgbClr val="CFE3E6"/>
                </a:solidFill>
                <a:latin typeface="Calibri"/>
              </a:rPr>
              <a:t>   fast-result branch (400K)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74920"/>
            <a:ext cx="104698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4303A"/>
                </a:solidFill>
                <a:latin typeface="Calibri"/>
              </a:rPr>
              <a:t>Perception is held constant; only the policy optimizer changes. </a:t>
            </a:r>
            <a:r>
              <a:rPr sz="1500" b="1" i="0">
                <a:solidFill>
                  <a:srgbClr val="0E7C86"/>
                </a:solidFill>
                <a:latin typeface="Calibri"/>
              </a:rPr>
              <a:t>Any behavioral difference is attributable to the learner, not the representation.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6E7C84"/>
                </a:solidFill>
                <a:latin typeface="Calibri"/>
              </a:rPr>
              <a:t>Both are unmodified Stable-Baselines3 algorithms with MLP policies.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833A"/>
                </a:solidFill>
                <a:latin typeface="Calibri"/>
              </a:rPr>
              <a:t>RESULT · PPO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75895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4303A"/>
                </a:solidFill>
                <a:latin typeface="Cambria"/>
              </a:rPr>
              <a:t>PPO completed 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01168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FE3E6"/>
                </a:solidFill>
                <a:latin typeface="Calibri"/>
              </a:rPr>
              <a:t>VALIDATED  @  500,000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70048"/>
            <a:ext cx="5029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938.87</a:t>
            </a:r>
            <a:r>
              <a:rPr sz="2400" b="0" i="0">
                <a:solidFill>
                  <a:srgbClr val="CFE3E6"/>
                </a:solidFill>
                <a:latin typeface="Calibri"/>
              </a:rPr>
              <a:t>  ± 7.86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947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FE3E6"/>
                </a:solidFill>
                <a:latin typeface="Calibri"/>
              </a:rPr>
              <a:t>Best parsed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939.53 ± 4.09</a:t>
            </a:r>
            <a:r>
              <a:rPr sz="1400" b="0" i="0">
                <a:solidFill>
                  <a:srgbClr val="CFE3E6"/>
                </a:solidFill>
                <a:latin typeface="Calibri"/>
              </a:rPr>
              <a:t>  @ 480,000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846320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0E7C86"/>
                </a:solidFill>
                <a:latin typeface="Calibri"/>
              </a:rPr>
              <a:t>✓  </a:t>
            </a:r>
            <a:r>
              <a:rPr sz="1550" b="0" i="0">
                <a:solidFill>
                  <a:srgbClr val="14303A"/>
                </a:solidFill>
                <a:latin typeface="Calibri"/>
              </a:rPr>
              <a:t>Fully completed 500K run (last step 501,760).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0E7C86"/>
                </a:solidFill>
                <a:latin typeface="Calibri"/>
              </a:rPr>
              <a:t>✓  </a:t>
            </a:r>
            <a:r>
              <a:rPr sz="1550" b="0" i="0">
                <a:solidFill>
                  <a:srgbClr val="14303A"/>
                </a:solidFill>
                <a:latin typeface="Calibri"/>
              </a:rPr>
              <a:t>~40 fps · ~3 h 26 m on Colab.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0E7C86"/>
                </a:solidFill>
                <a:latin typeface="Calibri"/>
              </a:rPr>
              <a:t>✓  </a:t>
            </a:r>
            <a:r>
              <a:rPr sz="1550" b="0" i="0">
                <a:solidFill>
                  <a:srgbClr val="14303A"/>
                </a:solidFill>
                <a:latin typeface="Calibri"/>
              </a:rPr>
              <a:t>Stabilizes in the low-930s–940s band over final checkpoints.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440680"/>
            <a:ext cx="107624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E7C84"/>
                </a:solidFill>
                <a:latin typeface="Calibri"/>
              </a:rPr>
              <a:t>Raw reward (track progress) is the headline metric; shaped reward is a training aid only.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833A"/>
                </a:solidFill>
                <a:latin typeface="Calibri"/>
              </a:rPr>
              <a:t>RESULT · SAC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75895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4303A"/>
                </a:solidFill>
                <a:latin typeface="Cambria"/>
              </a:rPr>
              <a:t>SAC fast-result branch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01168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1E6"/>
                </a:solidFill>
                <a:latin typeface="Calibri"/>
              </a:rPr>
              <a:t>VALIDATED  @  400,000 STEPS  ·  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70048"/>
            <a:ext cx="5029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938.51</a:t>
            </a:r>
            <a:r>
              <a:rPr sz="2400" b="0" i="0">
                <a:solidFill>
                  <a:srgbClr val="FFF1E6"/>
                </a:solidFill>
                <a:latin typeface="Calibri"/>
              </a:rPr>
              <a:t>  ± 4.88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947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1E6"/>
                </a:solidFill>
                <a:latin typeface="Calibri"/>
              </a:rPr>
              <a:t>Best </a:t>
            </a:r>
            <a:r>
              <a:rPr sz="1400" b="0" i="1">
                <a:solidFill>
                  <a:srgbClr val="FFF1E6"/>
                </a:solidFill>
                <a:latin typeface="Calibri"/>
              </a:rPr>
              <a:t>and last</a:t>
            </a:r>
            <a:r>
              <a:rPr sz="1400" b="0" i="0">
                <a:solidFill>
                  <a:srgbClr val="FFF1E6"/>
                </a:solidFill>
                <a:latin typeface="Calibri"/>
              </a:rPr>
              <a:t> eval checkpoint — none after 400K.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846320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E8833A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4303A"/>
                </a:solidFill>
                <a:latin typeface="Calibri"/>
              </a:rPr>
              <a:t>Not a completed 500K run (last step 418,697 ≈ 82%).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E8833A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4303A"/>
                </a:solidFill>
                <a:latin typeface="Calibri"/>
              </a:rPr>
              <a:t>Fast-result branch under Colab runtime limits.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E8833A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C96A28"/>
                </a:solidFill>
                <a:latin typeface="Calibri"/>
              </a:rPr>
              <a:t>Not claimed to beat PPO; not compute-equivalent.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440680"/>
            <a:ext cx="107624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E7C84"/>
                </a:solidFill>
                <a:latin typeface="Calibri"/>
              </a:rPr>
              <a:t>Treated strictly as a 400K best-checkpoint result — the conservative reading of the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833A"/>
                </a:solidFill>
                <a:latin typeface="Calibri"/>
              </a:rPr>
              <a:t>PRIMARY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758952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Headline raw-reward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28800"/>
            <a:ext cx="5120640" cy="1207008"/>
          </a:xfrm>
          <a:prstGeom prst="roundRect">
            <a:avLst>
              <a:gd name="adj" fmla="val 7000"/>
            </a:avLst>
          </a:prstGeom>
          <a:solidFill>
            <a:srgbClr val="1B3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" y="2276856"/>
            <a:ext cx="310896" cy="31089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89888" y="197510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FE3E6"/>
                </a:solidFill>
                <a:latin typeface="Calibri"/>
              </a:rPr>
              <a:t>PPO  @ 500K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9659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E7C86"/>
                </a:solidFill>
                <a:latin typeface="Calibri"/>
              </a:rPr>
              <a:t>COMPLETED 500K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304288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Cambria"/>
              </a:rPr>
              <a:t>938.87</a:t>
            </a:r>
            <a:r>
              <a:rPr sz="1500" b="0" i="0">
                <a:solidFill>
                  <a:srgbClr val="CFE3E6"/>
                </a:solidFill>
                <a:latin typeface="Calibri"/>
              </a:rPr>
              <a:t>  ± 7.86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200400"/>
            <a:ext cx="5120640" cy="1207008"/>
          </a:xfrm>
          <a:prstGeom prst="roundRect">
            <a:avLst>
              <a:gd name="adj" fmla="val 7000"/>
            </a:avLst>
          </a:prstGeom>
          <a:solidFill>
            <a:srgbClr val="1B3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32688" y="3648456"/>
            <a:ext cx="310896" cy="310896"/>
          </a:xfrm>
          <a:prstGeom prst="ellipse">
            <a:avLst/>
          </a:prstGeom>
          <a:solidFill>
            <a:srgbClr val="2A9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89888" y="334670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FE3E6"/>
                </a:solidFill>
                <a:latin typeface="Calibri"/>
              </a:rPr>
              <a:t>PPO  best @ 480K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3375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A9DA8"/>
                </a:solidFill>
                <a:latin typeface="Calibri"/>
              </a:rPr>
              <a:t>BEST PARSED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675887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Cambria"/>
              </a:rPr>
              <a:t>939.53</a:t>
            </a:r>
            <a:r>
              <a:rPr sz="1500" b="0" i="0">
                <a:solidFill>
                  <a:srgbClr val="CFE3E6"/>
                </a:solidFill>
                <a:latin typeface="Calibri"/>
              </a:rPr>
              <a:t>  ± 4.09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572000"/>
            <a:ext cx="5120640" cy="1207008"/>
          </a:xfrm>
          <a:prstGeom prst="roundRect">
            <a:avLst>
              <a:gd name="adj" fmla="val 7000"/>
            </a:avLst>
          </a:prstGeom>
          <a:solidFill>
            <a:srgbClr val="1B3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32688" y="5020056"/>
            <a:ext cx="310896" cy="310896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89888" y="471830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FE3E6"/>
                </a:solidFill>
                <a:latin typeface="Calibri"/>
              </a:rPr>
              <a:t>SAC  @ 400K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47091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E8833A"/>
                </a:solidFill>
                <a:latin typeface="Calibri"/>
              </a:rPr>
              <a:t>PARTIAL 400K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5047488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Cambria"/>
              </a:rPr>
              <a:t>938.51</a:t>
            </a:r>
            <a:r>
              <a:rPr sz="1500" b="0" i="0">
                <a:solidFill>
                  <a:srgbClr val="CFE3E6"/>
                </a:solidFill>
                <a:latin typeface="Calibri"/>
              </a:rPr>
              <a:t>  ± 4.88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1828800"/>
            <a:ext cx="539496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deck_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270582"/>
            <a:ext cx="5029200" cy="286547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80760" y="6016752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CFE3E6"/>
                </a:solidFill>
                <a:latin typeface="Calibri"/>
              </a:rPr>
              <a:t>Raw eval reward vs training steps (from log checkpoints).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98932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CFE3E6"/>
                </a:solidFill>
                <a:latin typeface="Calibri"/>
              </a:rPr>
              <a:t>Raw reward is the headline metric. PPO and SAC are not a compute-equivalent comparison.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833A"/>
                </a:solidFill>
                <a:latin typeface="Calibri"/>
              </a:rPr>
              <a:t>SECONDARY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75895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4303A"/>
                </a:solidFill>
                <a:latin typeface="Cambria"/>
              </a:rPr>
              <a:t>Generalization across seed 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965960"/>
            <a:ext cx="5532120" cy="3703320"/>
          </a:xfrm>
          <a:prstGeom prst="roundRect">
            <a:avLst>
              <a:gd name="adj" fmla="val 4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eck_gener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319758"/>
            <a:ext cx="5257800" cy="2995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2240280"/>
            <a:ext cx="493776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0E7C86"/>
                </a:solidFill>
                <a:latin typeface="Calibri"/>
              </a:rPr>
              <a:t>Fixed</a:t>
            </a:r>
            <a:r>
              <a:rPr sz="1600" b="0" i="0">
                <a:solidFill>
                  <a:srgbClr val="14303A"/>
                </a:solidFill>
                <a:latin typeface="Calibri"/>
              </a:rPr>
              <a:t> and </a:t>
            </a:r>
            <a:r>
              <a:rPr sz="1600" b="1" i="0">
                <a:solidFill>
                  <a:srgbClr val="0E7C86"/>
                </a:solidFill>
                <a:latin typeface="Calibri"/>
              </a:rPr>
              <a:t>randomized</a:t>
            </a:r>
            <a:r>
              <a:rPr sz="1600" b="0" i="0">
                <a:solidFill>
                  <a:srgbClr val="14303A"/>
                </a:solidFill>
                <a:latin typeface="Calibri"/>
              </a:rPr>
              <a:t> multi-seed sets, plus a bootstrap 95% CI.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14303A"/>
                </a:solidFill>
                <a:latin typeface="Calibri"/>
              </a:rPr>
              <a:t>Both branches land in the mid-920s on held-out seeds — a few points below the best single checkpoints.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14303A"/>
                </a:solidFill>
                <a:latin typeface="Calibri"/>
              </a:rPr>
              <a:t>Narrow confidence intervals → the mean behavior is stable even as individual seeds vary.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53212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E7C84"/>
                </a:solidFill>
                <a:latin typeface="Calibri"/>
              </a:rPr>
              <a:t>Secondary notebook-output evidence — distinct from the log-validated headline metrics.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833A"/>
                </a:solidFill>
                <a:latin typeface="Calibri"/>
              </a:rPr>
              <a:t>HONEST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75895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4303A"/>
                </a:solidFill>
                <a:latin typeface="Cambria"/>
              </a:rPr>
              <a:t>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65960"/>
            <a:ext cx="3429000" cy="1828800"/>
          </a:xfrm>
          <a:prstGeom prst="roundRect">
            <a:avLst>
              <a:gd name="adj" fmla="val 7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2203704"/>
            <a:ext cx="384048" cy="384048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2249424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240279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303A"/>
                </a:solidFill>
                <a:latin typeface="Cambria"/>
              </a:rPr>
              <a:t>SAC is partial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834639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7C84"/>
                </a:solidFill>
                <a:latin typeface="Calibri"/>
              </a:rPr>
              <a:t>400K best checkpoint — not 500K, not compute-equivalent, not claimed to beat PPO.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965960"/>
            <a:ext cx="3429000" cy="1828800"/>
          </a:xfrm>
          <a:prstGeom prst="roundRect">
            <a:avLst>
              <a:gd name="adj" fmla="val 7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08576" y="2203704"/>
            <a:ext cx="384048" cy="384048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2249424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2240279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303A"/>
                </a:solidFill>
                <a:latin typeface="Cambria"/>
              </a:rPr>
              <a:t>No pixel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834639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7C84"/>
                </a:solidFill>
                <a:latin typeface="Calibri"/>
              </a:rPr>
              <a:t>No raw-image CNN policy was trained, so there is no head-to-head pixel comparison.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965960"/>
            <a:ext cx="3429000" cy="1828800"/>
          </a:xfrm>
          <a:prstGeom prst="roundRect">
            <a:avLst>
              <a:gd name="adj" fmla="val 7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66175" y="2203704"/>
            <a:ext cx="384048" cy="384048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5" y="2249424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2240279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303A"/>
                </a:solidFill>
                <a:latin typeface="Cambria"/>
              </a:rPr>
              <a:t>Appearance-sensitive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3" y="2834639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7C84"/>
                </a:solidFill>
                <a:latin typeface="Calibri"/>
              </a:rPr>
              <a:t>HSV masking can degrade under rendering or track-art changes.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77639"/>
            <a:ext cx="3429000" cy="1828800"/>
          </a:xfrm>
          <a:prstGeom prst="roundRect">
            <a:avLst>
              <a:gd name="adj" fmla="val 7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50976" y="4215383"/>
            <a:ext cx="384048" cy="384048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4261103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0472" y="4251959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303A"/>
                </a:solidFill>
                <a:latin typeface="Cambria"/>
              </a:rPr>
              <a:t>Heavy-tailed failures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4846320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7C84"/>
                </a:solidFill>
                <a:latin typeface="Calibri"/>
              </a:rPr>
              <a:t>Seeds 599310825 / 440213415 score only ≈ 55–56 raw reward.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3977639"/>
            <a:ext cx="3429000" cy="1828800"/>
          </a:xfrm>
          <a:prstGeom prst="roundRect">
            <a:avLst>
              <a:gd name="adj" fmla="val 7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608576" y="4215383"/>
            <a:ext cx="384048" cy="384048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08576" y="4261103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8072" y="4251959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303A"/>
                </a:solidFill>
                <a:latin typeface="Cambria"/>
              </a:rPr>
              <a:t>Not “solved”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6864" y="4846320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7C84"/>
                </a:solidFill>
                <a:latin typeface="Calibri"/>
              </a:rPr>
              <a:t>CarRacing-v3 is not claimed solved; promising, not uniformly robust.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8431" y="3977639"/>
            <a:ext cx="3429000" cy="1828800"/>
          </a:xfrm>
          <a:prstGeom prst="roundRect">
            <a:avLst>
              <a:gd name="adj" fmla="val 7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75320" y="4206240"/>
            <a:ext cx="297180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Reported as multi-seed statistics — never a single best episode.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833A"/>
                </a:solidFill>
                <a:latin typeface="Calibri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32588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Cambria"/>
              </a:rPr>
              <a:t>A compact visual feature that two RL methods can drive on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788920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8620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770632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mbria"/>
              </a:rPr>
              <a:t>Perception is the contribution  —  </a:t>
            </a:r>
            <a:r>
              <a:rPr sz="1500" b="0" i="0">
                <a:solidFill>
                  <a:srgbClr val="CFE3E6"/>
                </a:solidFill>
                <a:latin typeface="Calibri"/>
              </a:rPr>
              <a:t>a deterministic HSV-mask + ray pipeline turns pixels into a 16-D / 64-D feature.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657600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73075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3639312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mbria"/>
              </a:rPr>
              <a:t>Shared, learner-agnostic  —  </a:t>
            </a:r>
            <a:r>
              <a:rPr sz="1500" b="0" i="0">
                <a:solidFill>
                  <a:srgbClr val="CFE3E6"/>
                </a:solidFill>
                <a:latin typeface="Calibri"/>
              </a:rPr>
              <a:t>PPO (938.87 @500K) and SAC (938.51 @400K) reach the same band on the same features.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526279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599431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4507992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mbria"/>
              </a:rPr>
              <a:t>Honest and reproducible  —  </a:t>
            </a:r>
            <a:r>
              <a:rPr sz="1500" b="0" i="0">
                <a:solidFill>
                  <a:srgbClr val="CFE3E6"/>
                </a:solidFill>
                <a:latin typeface="Calibri"/>
              </a:rPr>
              <a:t>conservative claims, log-parsed metrics, saved artifacts — no retraining to verify.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669280"/>
            <a:ext cx="10469880" cy="868680"/>
          </a:xfrm>
          <a:prstGeom prst="roundRect">
            <a:avLst>
              <a:gd name="adj" fmla="val 10000"/>
            </a:avLst>
          </a:prstGeom>
          <a:solidFill>
            <a:srgbClr val="1B3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5669280"/>
            <a:ext cx="795527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E8833A"/>
                </a:solidFill>
                <a:latin typeface="Calibri"/>
              </a:rPr>
              <a:t>GitHub   </a:t>
            </a:r>
            <a:r>
              <a:rPr sz="1500" b="1" i="0" dirty="0">
                <a:solidFill>
                  <a:srgbClr val="FFFFFF"/>
                </a:solidFill>
                <a:latin typeface="Consolas"/>
              </a:rPr>
              <a:t>github.com/</a:t>
            </a:r>
            <a:r>
              <a:rPr sz="1500" b="1" i="0" dirty="0" err="1">
                <a:solidFill>
                  <a:srgbClr val="FFFFFF"/>
                </a:solidFill>
                <a:latin typeface="Consolas"/>
              </a:rPr>
              <a:t>UltraLamb</a:t>
            </a:r>
            <a:r>
              <a:rPr sz="1500" b="1" i="0" dirty="0">
                <a:solidFill>
                  <a:srgbClr val="FFFFFF"/>
                </a:solidFill>
                <a:latin typeface="Consolas"/>
              </a:rPr>
              <a:t>/Image-Processing-Project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 dirty="0">
                <a:solidFill>
                  <a:srgbClr val="CFE3E6"/>
                </a:solidFill>
                <a:latin typeface="Calibri"/>
              </a:rPr>
              <a:t>submit after the repository is renamed to “Image-Processing-Project”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566928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Joe · 1103820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1010</Words>
  <Application>Microsoft Office PowerPoint</Application>
  <PresentationFormat>寬螢幕</PresentationFormat>
  <Paragraphs>140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鄒貫宇</cp:lastModifiedBy>
  <cp:revision>2</cp:revision>
  <dcterms:created xsi:type="dcterms:W3CDTF">2013-01-27T09:14:16Z</dcterms:created>
  <dcterms:modified xsi:type="dcterms:W3CDTF">2026-06-27T03:40:57Z</dcterms:modified>
  <cp:category/>
</cp:coreProperties>
</file>