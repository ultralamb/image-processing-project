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328" y="3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1371600"/>
            <a:ext cx="10424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833A"/>
                </a:solidFill>
                <a:latin typeface="Calibri"/>
              </a:rPr>
              <a:t>IMAGE PROCESSING  ·  FINAL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60704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5800" b="1" i="0">
                <a:solidFill>
                  <a:srgbClr val="FFFFFF"/>
                </a:solidFill>
                <a:latin typeface="Cambria"/>
              </a:rPr>
              <a:t>Image Processing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46120"/>
            <a:ext cx="10241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0" i="0">
                <a:solidFill>
                  <a:srgbClr val="CFE3E6"/>
                </a:solidFill>
                <a:latin typeface="Calibri"/>
              </a:rPr>
              <a:t>Feature-Based Image Processing and Reinforcement Learning for CarRacing-v3</a:t>
            </a:r>
          </a:p>
        </p:txBody>
      </p:sp>
      <p:sp>
        <p:nvSpPr>
          <p:cNvPr id="6" name="Oval 5"/>
          <p:cNvSpPr/>
          <p:nvPr/>
        </p:nvSpPr>
        <p:spPr>
          <a:xfrm>
            <a:off x="896112" y="4526280"/>
            <a:ext cx="146304" cy="146304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161288" y="4526280"/>
            <a:ext cx="146304" cy="146304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426464" y="4526280"/>
            <a:ext cx="146304" cy="146304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691640" y="4526280"/>
            <a:ext cx="146304" cy="146304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956816" y="4526280"/>
            <a:ext cx="146304" cy="146304"/>
          </a:xfrm>
          <a:prstGeom prst="ellipse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2221992" y="4526280"/>
            <a:ext cx="146304" cy="146304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2487168" y="4526280"/>
            <a:ext cx="146304" cy="146304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2752344" y="4526280"/>
            <a:ext cx="146304" cy="146304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3017520" y="4526280"/>
            <a:ext cx="146304" cy="146304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498348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Joe  ·  Student ID 1103820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5715000"/>
            <a:ext cx="2115921" cy="475488"/>
          </a:xfrm>
          <a:prstGeom prst="roundRect">
            <a:avLst>
              <a:gd name="adj" fmla="val 50000"/>
            </a:avLst>
          </a:prstGeom>
          <a:solidFill>
            <a:srgbClr val="1B3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033271" y="5879592"/>
            <a:ext cx="146304" cy="146304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80160" y="5797296"/>
            <a:ext cx="1658721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16-D base observation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13201" y="5715000"/>
            <a:ext cx="1858060" cy="475488"/>
          </a:xfrm>
          <a:prstGeom prst="roundRect">
            <a:avLst>
              <a:gd name="adj" fmla="val 50000"/>
            </a:avLst>
          </a:prstGeom>
          <a:solidFill>
            <a:srgbClr val="1B3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3377793" y="5879592"/>
            <a:ext cx="146304" cy="146304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624681" y="5797296"/>
            <a:ext cx="14008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PPO  938.87 @ 500K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99862" y="5715000"/>
            <a:ext cx="1858060" cy="475488"/>
          </a:xfrm>
          <a:prstGeom prst="roundRect">
            <a:avLst>
              <a:gd name="adj" fmla="val 50000"/>
            </a:avLst>
          </a:prstGeom>
          <a:solidFill>
            <a:srgbClr val="1B3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5464454" y="5879592"/>
            <a:ext cx="146304" cy="146304"/>
          </a:xfrm>
          <a:prstGeom prst="ellipse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711342" y="5797296"/>
            <a:ext cx="14008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SAC  938.51 @ 400K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833A"/>
                </a:solidFill>
                <a:latin typeface="Calibri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758952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14303A"/>
                </a:solidFill>
                <a:latin typeface="Cambria"/>
              </a:rPr>
              <a:t>From raw pixels to a compact, inspectable representation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920240"/>
            <a:ext cx="5257800" cy="2834640"/>
          </a:xfrm>
          <a:prstGeom prst="roundRect">
            <a:avLst>
              <a:gd name="adj" fmla="val 6000"/>
            </a:avLst>
          </a:prstGeom>
          <a:solidFill>
            <a:srgbClr val="F3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14884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E6F79"/>
                </a:solidFill>
                <a:latin typeface="Calibri"/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578608"/>
            <a:ext cx="480060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4303A"/>
                </a:solidFill>
                <a:latin typeface="Calibri"/>
              </a:rPr>
              <a:t>Training a policy directly on the 96×96×3 pixel frame couples perception and control. It is sample-hungry, opaque, and expensive to debug on a course budget.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920240"/>
            <a:ext cx="5257800" cy="2834640"/>
          </a:xfrm>
          <a:prstGeom prst="roundRect">
            <a:avLst>
              <a:gd name="adj" fmla="val 6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64808" y="214884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FE3E6"/>
                </a:solidFill>
                <a:latin typeface="Calibri"/>
              </a:rPr>
              <a:t>THIS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4808" y="2578608"/>
            <a:ext cx="480060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FFFFFF"/>
                </a:solidFill>
                <a:latin typeface="Calibri"/>
              </a:rPr>
              <a:t>Move perception into a deterministic image-processing wrapper. Off-the-shelf PPO and SAC then learn only control on a compact 16-D feature vector.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5029200"/>
            <a:ext cx="10762488" cy="1234440"/>
          </a:xfrm>
          <a:prstGeom prst="roundRect">
            <a:avLst>
              <a:gd name="adj" fmla="val 6000"/>
            </a:avLst>
          </a:prstGeom>
          <a:solidFill>
            <a:srgbClr val="14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5029200"/>
            <a:ext cx="603504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27,648 </a:t>
            </a:r>
            <a:r>
              <a:rPr sz="2100" b="0" i="0">
                <a:solidFill>
                  <a:srgbClr val="CFE3E6"/>
                </a:solidFill>
                <a:latin typeface="Calibri"/>
              </a:rPr>
              <a:t>pixels  →  </a:t>
            </a:r>
            <a:r>
              <a:rPr sz="4400" b="1" i="0">
                <a:solidFill>
                  <a:srgbClr val="E8833A"/>
                </a:solidFill>
                <a:latin typeface="Cambria"/>
              </a:rPr>
              <a:t>16</a:t>
            </a:r>
            <a:r>
              <a:rPr sz="2100" b="0" i="0">
                <a:solidFill>
                  <a:srgbClr val="CFE3E6"/>
                </a:solidFill>
                <a:latin typeface="Calibri"/>
              </a:rPr>
              <a:t>  values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5029200"/>
            <a:ext cx="379476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CFE3E6"/>
                </a:solidFill>
                <a:latin typeface="Calibri"/>
              </a:rPr>
              <a:t>Each frame becomes a vector an MLP can act on — four frames stack to 64-D.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833A"/>
                </a:solidFill>
                <a:latin typeface="Calibri"/>
              </a:rPr>
              <a:t>ENVIRONMENT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758952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14303A"/>
                </a:solidFill>
                <a:latin typeface="Cambria"/>
              </a:rPr>
              <a:t>Gymnasium CarRacing-v3</a:t>
            </a:r>
          </a:p>
        </p:txBody>
      </p:sp>
      <p:pic>
        <p:nvPicPr>
          <p:cNvPr id="5" name="Picture 4" descr="env_frame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011680"/>
            <a:ext cx="5212080" cy="2743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5943600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6E7C84"/>
                </a:solidFill>
                <a:latin typeface="Calibri"/>
              </a:rPr>
              <a:t>Top-down rendered driving frame (road, grass, car).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286000"/>
            <a:ext cx="5120640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1" i="0">
                <a:solidFill>
                  <a:srgbClr val="0E7C86"/>
                </a:solidFill>
                <a:latin typeface="Calibri"/>
              </a:rPr>
              <a:t>96×96 RGB frame  </a:t>
            </a:r>
            <a:r>
              <a:rPr sz="1500" b="0" i="0">
                <a:solidFill>
                  <a:srgbClr val="14303A"/>
                </a:solidFill>
                <a:latin typeface="Calibri"/>
              </a:rPr>
              <a:t>— top-down view around the car.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1" i="0">
                <a:solidFill>
                  <a:srgbClr val="0E7C86"/>
                </a:solidFill>
                <a:latin typeface="Calibri"/>
              </a:rPr>
              <a:t>Continuous action  </a:t>
            </a:r>
            <a:r>
              <a:rPr sz="1500" b="0" i="0">
                <a:solidFill>
                  <a:srgbClr val="14303A"/>
                </a:solidFill>
                <a:latin typeface="Calibri"/>
              </a:rPr>
              <a:t>[steer ∈ −1…1, gas, brake].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1" i="0">
                <a:solidFill>
                  <a:srgbClr val="0E7C86"/>
                </a:solidFill>
                <a:latin typeface="Calibri"/>
              </a:rPr>
              <a:t>Reward  </a:t>
            </a:r>
            <a:r>
              <a:rPr sz="1500" b="0" i="0">
                <a:solidFill>
                  <a:srgbClr val="14303A"/>
                </a:solidFill>
                <a:latin typeface="Calibri"/>
              </a:rPr>
              <a:t>= progress along the track; penalties off-track.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1" i="0">
                <a:solidFill>
                  <a:srgbClr val="0E7C86"/>
                </a:solidFill>
                <a:latin typeface="Calibri"/>
              </a:rPr>
              <a:t>Randomized tracks  </a:t>
            </a:r>
            <a:r>
              <a:rPr sz="1500" b="0" i="0">
                <a:solidFill>
                  <a:srgbClr val="14303A"/>
                </a:solidFill>
                <a:latin typeface="Calibri"/>
              </a:rPr>
              <a:t>each episode → must generalize, not memorize.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833A"/>
                </a:solidFill>
                <a:latin typeface="Calibri"/>
              </a:rPr>
              <a:t>WHY IMAGE-PROCESSING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758952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14303A"/>
                </a:solidFill>
                <a:latin typeface="Cambria"/>
              </a:rPr>
              <a:t>Two ways to drive from vision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920240"/>
            <a:ext cx="5257800" cy="3291840"/>
          </a:xfrm>
          <a:prstGeom prst="roundRect">
            <a:avLst>
              <a:gd name="adj" fmla="val 6000"/>
            </a:avLst>
          </a:prstGeom>
          <a:solidFill>
            <a:srgbClr val="EE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60120" y="2194560"/>
            <a:ext cx="475488" cy="475488"/>
          </a:xfrm>
          <a:prstGeom prst="ellipse">
            <a:avLst/>
          </a:prstGeom>
          <a:solidFill>
            <a:srgbClr val="5E6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2249424"/>
            <a:ext cx="4754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mbria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249424"/>
            <a:ext cx="4206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5E6F79"/>
                </a:solidFill>
                <a:latin typeface="Cambria"/>
              </a:rPr>
              <a:t>End-to-end pixels (CNN)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971800"/>
            <a:ext cx="475488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0" i="0">
                <a:solidFill>
                  <a:srgbClr val="14303A"/>
                </a:solidFill>
                <a:latin typeface="Calibri"/>
              </a:rPr>
              <a:t>•  Learns perception and control jointly.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0" i="0">
                <a:solidFill>
                  <a:srgbClr val="14303A"/>
                </a:solidFill>
                <a:latin typeface="Calibri"/>
              </a:rPr>
              <a:t>•  General, but sample-hungry.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0" i="0">
                <a:solidFill>
                  <a:srgbClr val="14303A"/>
                </a:solidFill>
                <a:latin typeface="Calibri"/>
              </a:rPr>
              <a:t>•  Opaque and hard to debug.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0" i="0">
                <a:solidFill>
                  <a:srgbClr val="14303A"/>
                </a:solidFill>
                <a:latin typeface="Calibri"/>
              </a:rPr>
              <a:t>•  Heavy compute footprint.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920240"/>
            <a:ext cx="5257800" cy="3291840"/>
          </a:xfrm>
          <a:prstGeom prst="roundRect">
            <a:avLst>
              <a:gd name="adj" fmla="val 6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6464808" y="2194560"/>
            <a:ext cx="475488" cy="475488"/>
          </a:xfrm>
          <a:prstGeom prst="ellipse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64808" y="2249424"/>
            <a:ext cx="4754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mbria"/>
              </a:rP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04888" y="2249424"/>
            <a:ext cx="4206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Feature-based  (this work)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4808" y="2971800"/>
            <a:ext cx="475488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0" i="0">
                <a:solidFill>
                  <a:srgbClr val="FFFFFF"/>
                </a:solidFill>
                <a:latin typeface="Calibri"/>
              </a:rPr>
              <a:t>•  Deterministic CV → compact geometry.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0" i="0">
                <a:solidFill>
                  <a:srgbClr val="FFFFFF"/>
                </a:solidFill>
                <a:latin typeface="Calibri"/>
              </a:rPr>
              <a:t>•  Sample-efficient and inspectable.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0" i="0">
                <a:solidFill>
                  <a:srgbClr val="FFFFFF"/>
                </a:solidFill>
                <a:latin typeface="Calibri"/>
              </a:rPr>
              <a:t>•  MLP-sized policy input (16-D / 64-D).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0" i="0">
                <a:solidFill>
                  <a:srgbClr val="FFFFFF"/>
                </a:solidFill>
                <a:latin typeface="Calibri"/>
              </a:rPr>
              <a:t>•  Every stage is auditable.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5486400"/>
            <a:ext cx="1076248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1">
                <a:solidFill>
                  <a:srgbClr val="6E7C84"/>
                </a:solidFill>
                <a:latin typeface="Calibri"/>
              </a:rPr>
              <a:t>No raw-pixel CNN policy is trained here — the contribution is the perception layer, not a new learner.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833A"/>
                </a:solidFill>
                <a:latin typeface="Calibri"/>
              </a:rPr>
              <a:t>CONTRIBUTION ·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758952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14303A"/>
                </a:solidFill>
                <a:latin typeface="Cambria"/>
              </a:rPr>
              <a:t>The image-processing pipeline</a:t>
            </a: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B85BC87C-0E6C-A2DD-2A7D-DAC0B0F74F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4963" y="1454135"/>
            <a:ext cx="9601767" cy="540386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833A"/>
                </a:solidFill>
                <a:latin typeface="Calibri"/>
              </a:rPr>
              <a:t>PIPELINE · STEPS 1–2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758952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14303A"/>
                </a:solidFill>
                <a:latin typeface="Cambria"/>
              </a:rPr>
              <a:t>HSV road-mask extraction</a:t>
            </a:r>
          </a:p>
        </p:txBody>
      </p:sp>
      <p:sp>
        <p:nvSpPr>
          <p:cNvPr id="5" name="Oval 4"/>
          <p:cNvSpPr/>
          <p:nvPr/>
        </p:nvSpPr>
        <p:spPr>
          <a:xfrm>
            <a:off x="777240" y="2011680"/>
            <a:ext cx="566928" cy="566928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103120"/>
            <a:ext cx="56692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1993392"/>
            <a:ext cx="55778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14303A"/>
                </a:solidFill>
                <a:latin typeface="Cambria"/>
              </a:rPr>
              <a:t>Crop + RGB→HSV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6192" y="2414016"/>
            <a:ext cx="5669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E7C84"/>
                </a:solidFill>
                <a:latin typeface="Calibri"/>
              </a:rPr>
              <a:t>Keep the driving region; HSV separates color from brightness.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3035808"/>
            <a:ext cx="566928" cy="566928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3127248"/>
            <a:ext cx="56692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36192" y="3017520"/>
            <a:ext cx="55778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14303A"/>
                </a:solidFill>
                <a:latin typeface="Cambria"/>
              </a:rPr>
              <a:t>Threshold grass → complement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36192" y="3438144"/>
            <a:ext cx="5669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E7C84"/>
                </a:solidFill>
                <a:latin typeface="Calibri"/>
              </a:rPr>
              <a:t>Select the green band, invert to get the road.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4059936"/>
            <a:ext cx="566928" cy="566928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4151376"/>
            <a:ext cx="56692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6192" y="4041648"/>
            <a:ext cx="55778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14303A"/>
                </a:solidFill>
                <a:latin typeface="Cambria"/>
              </a:rPr>
              <a:t>3×3 morphological opening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36192" y="4462272"/>
            <a:ext cx="5669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E7C84"/>
                </a:solidFill>
                <a:latin typeface="Calibri"/>
              </a:rPr>
              <a:t>Erode then dilate — removes speckle and pin-holes.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5084064"/>
            <a:ext cx="566928" cy="566928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5175504"/>
            <a:ext cx="56692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36192" y="5065776"/>
            <a:ext cx="55778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14303A"/>
                </a:solidFill>
                <a:latin typeface="Cambria"/>
              </a:rPr>
              <a:t>Connected components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36192" y="5486400"/>
            <a:ext cx="5669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E7C84"/>
                </a:solidFill>
                <a:latin typeface="Calibri"/>
              </a:rPr>
              <a:t>Keep the road blob at the car; drop stray patches.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98079" y="2103120"/>
            <a:ext cx="3977639" cy="2286000"/>
          </a:xfrm>
          <a:prstGeom prst="roundRect">
            <a:avLst>
              <a:gd name="adj" fmla="val 6000"/>
            </a:avLst>
          </a:prstGeom>
          <a:solidFill>
            <a:srgbClr val="14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772400" y="2286000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833A"/>
                </a:solidFill>
                <a:latin typeface="Calibri"/>
              </a:rPr>
              <a:t>HSV GRASS BAND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2743200"/>
            <a:ext cx="34747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onsolas"/>
              </a:rPr>
              <a:t>[28, 35, 35]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onsolas"/>
              </a:rPr>
              <a:t>– [92, 255, 255]</a:t>
            </a:r>
          </a:p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250" b="0" i="0">
                <a:solidFill>
                  <a:srgbClr val="CFE3E6"/>
                </a:solidFill>
                <a:latin typeface="Calibri"/>
              </a:rPr>
              <a:t>H ∈ 0–179,  S,V ∈ 0–255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98079" y="4617720"/>
            <a:ext cx="3977639" cy="1417320"/>
          </a:xfrm>
          <a:prstGeom prst="roundRect">
            <a:avLst>
              <a:gd name="adj" fmla="val 6000"/>
            </a:avLst>
          </a:prstGeom>
          <a:solidFill>
            <a:srgbClr val="F3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0" y="4800600"/>
            <a:ext cx="342900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E7C86"/>
                </a:solidFill>
                <a:latin typeface="Consolas"/>
              </a:rPr>
              <a:t>road = ¬ grass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E7C84"/>
                </a:solidFill>
                <a:latin typeface="Calibri"/>
              </a:rPr>
              <a:t>Selecting the uniform grass and inverting is more stable than thresholding the road directly.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833A"/>
                </a:solidFill>
                <a:latin typeface="Calibri"/>
              </a:rPr>
              <a:t>PIPELINE · STEP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758952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14303A"/>
                </a:solidFill>
                <a:latin typeface="Cambria"/>
              </a:rPr>
              <a:t>Ray / radar feature extraction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874519"/>
            <a:ext cx="10762488" cy="3246120"/>
          </a:xfrm>
          <a:prstGeom prst="roundRect">
            <a:avLst>
              <a:gd name="adj" fmla="val 4000"/>
            </a:avLst>
          </a:prstGeom>
          <a:solidFill>
            <a:srgbClr val="F3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ray_fan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3184" y="2057400"/>
            <a:ext cx="6895151" cy="2880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" y="5349240"/>
            <a:ext cx="10762488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4303A"/>
                </a:solidFill>
                <a:latin typeface="Calibri"/>
              </a:rPr>
              <a:t>Nine rays span </a:t>
            </a:r>
            <a:r>
              <a:rPr sz="1500" b="1" i="0">
                <a:solidFill>
                  <a:srgbClr val="0E7C86"/>
                </a:solidFill>
                <a:latin typeface="Calibri"/>
              </a:rPr>
              <a:t>−70°…+70°</a:t>
            </a:r>
            <a:r>
              <a:rPr sz="1500" b="0" i="0">
                <a:solidFill>
                  <a:srgbClr val="14303A"/>
                </a:solidFill>
                <a:latin typeface="Calibri"/>
              </a:rPr>
              <a:t>, march to the mask boundary, and return normalized distances </a:t>
            </a:r>
            <a:r>
              <a:rPr sz="1500" b="1" i="0">
                <a:solidFill>
                  <a:srgbClr val="C96A28"/>
                </a:solidFill>
                <a:latin typeface="Calibri"/>
              </a:rPr>
              <a:t>r₀…r₈</a:t>
            </a:r>
            <a:r>
              <a:rPr sz="1500" b="0" i="0">
                <a:solidFill>
                  <a:srgbClr val="14303A"/>
                </a:solidFill>
                <a:latin typeface="Calibri"/>
              </a:rPr>
              <a:t> — a compact profile of local road openness.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833A"/>
                </a:solidFill>
                <a:latin typeface="Calibri"/>
              </a:rPr>
              <a:t>FEATURE REPRESENTATION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758952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14303A"/>
                </a:solidFill>
                <a:latin typeface="Cambria"/>
              </a:rPr>
              <a:t>16-D base → 64-D stacked observation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920240"/>
            <a:ext cx="10762488" cy="2743200"/>
          </a:xfrm>
          <a:prstGeom prst="roundRect">
            <a:avLst>
              <a:gd name="adj" fmla="val 4000"/>
            </a:avLst>
          </a:prstGeom>
          <a:solidFill>
            <a:srgbClr val="F3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obs_anatomy_16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6985" y="2148840"/>
            <a:ext cx="8533269" cy="228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" y="4892040"/>
            <a:ext cx="10762488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4303A"/>
                </a:solidFill>
                <a:latin typeface="Calibri"/>
              </a:rPr>
              <a:t>16-D = </a:t>
            </a:r>
            <a:r>
              <a:rPr sz="1500" b="0" i="0">
                <a:solidFill>
                  <a:srgbClr val="14303A"/>
                </a:solidFill>
                <a:latin typeface="Calibri"/>
              </a:rPr>
              <a:t>9 ray distances + 3 smoothed actions + speed + curvature + front-ray change + left–right asymmetry.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1">
                <a:solidFill>
                  <a:srgbClr val="6E7C84"/>
                </a:solidFill>
                <a:latin typeface="Calibri"/>
              </a:rPr>
              <a:t>Four consecutive observations stack (×4 → 64-D) to capture short-horizon motion. PPO and SAC share this exact stream.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833A"/>
                </a:solidFill>
                <a:latin typeface="Calibri"/>
              </a:rPr>
              <a:t>EXPERIMENT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758952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14303A"/>
                </a:solidFill>
                <a:latin typeface="Cambria"/>
              </a:rPr>
              <a:t>One perception layer, two off-the-shelf learners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514600"/>
            <a:ext cx="4114800" cy="1920240"/>
          </a:xfrm>
          <a:prstGeom prst="roundRect">
            <a:avLst>
              <a:gd name="adj" fmla="val 6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3657600" cy="1463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mbria"/>
              </a:rPr>
              <a:t>Shared feature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CFE3E6"/>
                </a:solidFill>
                <a:latin typeface="Calibri"/>
              </a:rPr>
              <a:t>16-D base → 64-D stacked observation (held constant)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166360" y="3017520"/>
            <a:ext cx="1097280" cy="457200"/>
          </a:xfrm>
          <a:prstGeom prst="rightArrow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ight Arrow 7"/>
          <p:cNvSpPr/>
          <p:nvPr/>
        </p:nvSpPr>
        <p:spPr>
          <a:xfrm>
            <a:off x="5166360" y="3749039"/>
            <a:ext cx="1097280" cy="457200"/>
          </a:xfrm>
          <a:prstGeom prst="rightArrow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446520" y="2377440"/>
            <a:ext cx="4572000" cy="960120"/>
          </a:xfrm>
          <a:prstGeom prst="roundRect">
            <a:avLst>
              <a:gd name="adj" fmla="val 10000"/>
            </a:avLst>
          </a:prstGeom>
          <a:solidFill>
            <a:srgbClr val="14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20624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Cambria"/>
              </a:rPr>
              <a:t>PPO</a:t>
            </a:r>
            <a:r>
              <a:rPr sz="1400" b="0" i="0">
                <a:solidFill>
                  <a:srgbClr val="CFE3E6"/>
                </a:solidFill>
                <a:latin typeface="Calibri"/>
              </a:rPr>
              <a:t>   completed 500K baseline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46520" y="3611880"/>
            <a:ext cx="4572000" cy="960120"/>
          </a:xfrm>
          <a:prstGeom prst="roundRect">
            <a:avLst>
              <a:gd name="adj" fmla="val 10000"/>
            </a:avLst>
          </a:prstGeom>
          <a:solidFill>
            <a:srgbClr val="1B3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3611880"/>
            <a:ext cx="420624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Cambria"/>
              </a:rPr>
              <a:t>SAC</a:t>
            </a:r>
            <a:r>
              <a:rPr sz="1400" b="0" i="0">
                <a:solidFill>
                  <a:srgbClr val="CFE3E6"/>
                </a:solidFill>
                <a:latin typeface="Calibri"/>
              </a:rPr>
              <a:t>   fast-result branch (400K)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074920"/>
            <a:ext cx="104698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4303A"/>
                </a:solidFill>
                <a:latin typeface="Calibri"/>
              </a:rPr>
              <a:t>Perception is held constant; only the policy optimizer changes. </a:t>
            </a:r>
            <a:r>
              <a:rPr sz="1500" b="1" i="0">
                <a:solidFill>
                  <a:srgbClr val="0E7C86"/>
                </a:solidFill>
                <a:latin typeface="Calibri"/>
              </a:rPr>
              <a:t>Any behavioral difference is attributable to the learner, not the representation.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1">
                <a:solidFill>
                  <a:srgbClr val="6E7C84"/>
                </a:solidFill>
                <a:latin typeface="Calibri"/>
              </a:rPr>
              <a:t>Both are unmodified Stable-Baselines3 algorithms with MLP policies.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833A"/>
                </a:solidFill>
                <a:latin typeface="Calibri"/>
              </a:rPr>
              <a:t>RESULT · PPO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758952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14303A"/>
                </a:solidFill>
                <a:latin typeface="Cambria"/>
              </a:rPr>
              <a:t>PPO completed baseline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2011680"/>
            <a:ext cx="5577840" cy="2286000"/>
          </a:xfrm>
          <a:prstGeom prst="roundRect">
            <a:avLst>
              <a:gd name="adj" fmla="val 5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24028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FE3E6"/>
                </a:solidFill>
                <a:latin typeface="Calibri"/>
              </a:rPr>
              <a:t>VALIDATED  @  500,000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70048"/>
            <a:ext cx="50292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5400" b="1" i="0">
                <a:solidFill>
                  <a:srgbClr val="FFFFFF"/>
                </a:solidFill>
                <a:latin typeface="Cambria"/>
              </a:rPr>
              <a:t>938.87</a:t>
            </a:r>
            <a:r>
              <a:rPr sz="2400" b="0" i="0">
                <a:solidFill>
                  <a:srgbClr val="CFE3E6"/>
                </a:solidFill>
                <a:latin typeface="Calibri"/>
              </a:rPr>
              <a:t>  ± 7.86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794760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CFE3E6"/>
                </a:solidFill>
                <a:latin typeface="Calibri"/>
              </a:rPr>
              <a:t>Best parsed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939.53 ± 4.09</a:t>
            </a:r>
            <a:r>
              <a:rPr sz="1400" b="0" i="0">
                <a:solidFill>
                  <a:srgbClr val="CFE3E6"/>
                </a:solidFill>
                <a:latin typeface="Calibri"/>
              </a:rPr>
              <a:t>  @ 480,000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103120"/>
            <a:ext cx="4846320" cy="2743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 i="0">
                <a:solidFill>
                  <a:srgbClr val="0E7C86"/>
                </a:solidFill>
                <a:latin typeface="Calibri"/>
              </a:rPr>
              <a:t>✓  </a:t>
            </a:r>
            <a:r>
              <a:rPr sz="1550" b="0" i="0">
                <a:solidFill>
                  <a:srgbClr val="14303A"/>
                </a:solidFill>
                <a:latin typeface="Calibri"/>
              </a:rPr>
              <a:t>Fully completed 500K run (last step 501,760).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 i="0">
                <a:solidFill>
                  <a:srgbClr val="0E7C86"/>
                </a:solidFill>
                <a:latin typeface="Calibri"/>
              </a:rPr>
              <a:t>✓  </a:t>
            </a:r>
            <a:r>
              <a:rPr sz="1550" b="0" i="0">
                <a:solidFill>
                  <a:srgbClr val="14303A"/>
                </a:solidFill>
                <a:latin typeface="Calibri"/>
              </a:rPr>
              <a:t>~40 fps · ~3 h 26 m on Colab.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 i="0">
                <a:solidFill>
                  <a:srgbClr val="0E7C86"/>
                </a:solidFill>
                <a:latin typeface="Calibri"/>
              </a:rPr>
              <a:t>✓  </a:t>
            </a:r>
            <a:r>
              <a:rPr sz="1550" b="0" i="0">
                <a:solidFill>
                  <a:srgbClr val="14303A"/>
                </a:solidFill>
                <a:latin typeface="Calibri"/>
              </a:rPr>
              <a:t>Stabilizes in the low-930s–940s band over final checkpoints.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5440680"/>
            <a:ext cx="1076248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1">
                <a:solidFill>
                  <a:srgbClr val="6E7C84"/>
                </a:solidFill>
                <a:latin typeface="Calibri"/>
              </a:rPr>
              <a:t>Raw reward (track progress) is the headline metric; shaped reward is a training aid only.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833A"/>
                </a:solidFill>
                <a:latin typeface="Calibri"/>
              </a:rPr>
              <a:t>RESULT · SAC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758952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14303A"/>
                </a:solidFill>
                <a:latin typeface="Cambria"/>
              </a:rPr>
              <a:t>SAC fast-result branch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2011680"/>
            <a:ext cx="5577840" cy="2286000"/>
          </a:xfrm>
          <a:prstGeom prst="roundRect">
            <a:avLst>
              <a:gd name="adj" fmla="val 5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24028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1E6"/>
                </a:solidFill>
                <a:latin typeface="Calibri"/>
              </a:rPr>
              <a:t>VALIDATED  @  400,000 STEPS  ·  PARTIAL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70048"/>
            <a:ext cx="50292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5400" b="1" i="0">
                <a:solidFill>
                  <a:srgbClr val="FFFFFF"/>
                </a:solidFill>
                <a:latin typeface="Cambria"/>
              </a:rPr>
              <a:t>938.51</a:t>
            </a:r>
            <a:r>
              <a:rPr sz="2400" b="0" i="0">
                <a:solidFill>
                  <a:srgbClr val="FFF1E6"/>
                </a:solidFill>
                <a:latin typeface="Calibri"/>
              </a:rPr>
              <a:t>  ± 4.88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794760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FF1E6"/>
                </a:solidFill>
                <a:latin typeface="Calibri"/>
              </a:rPr>
              <a:t>Best </a:t>
            </a:r>
            <a:r>
              <a:rPr sz="1400" b="0" i="1">
                <a:solidFill>
                  <a:srgbClr val="FFF1E6"/>
                </a:solidFill>
                <a:latin typeface="Calibri"/>
              </a:rPr>
              <a:t>and last</a:t>
            </a:r>
            <a:r>
              <a:rPr sz="1400" b="0" i="0">
                <a:solidFill>
                  <a:srgbClr val="FFF1E6"/>
                </a:solidFill>
                <a:latin typeface="Calibri"/>
              </a:rPr>
              <a:t> eval checkpoint — none after 400K.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103120"/>
            <a:ext cx="4846320" cy="2743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 i="0">
                <a:solidFill>
                  <a:srgbClr val="E8833A"/>
                </a:solidFill>
                <a:latin typeface="Calibri"/>
              </a:rPr>
              <a:t>•  </a:t>
            </a:r>
            <a:r>
              <a:rPr sz="1550" b="0" i="0">
                <a:solidFill>
                  <a:srgbClr val="14303A"/>
                </a:solidFill>
                <a:latin typeface="Calibri"/>
              </a:rPr>
              <a:t>Not a completed 500K run (last step 418,697 ≈ 82%).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 i="0">
                <a:solidFill>
                  <a:srgbClr val="E8833A"/>
                </a:solidFill>
                <a:latin typeface="Calibri"/>
              </a:rPr>
              <a:t>•  </a:t>
            </a:r>
            <a:r>
              <a:rPr sz="1550" b="0" i="0">
                <a:solidFill>
                  <a:srgbClr val="14303A"/>
                </a:solidFill>
                <a:latin typeface="Calibri"/>
              </a:rPr>
              <a:t>Fast-result branch under Colab runtime limits.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 i="0">
                <a:solidFill>
                  <a:srgbClr val="E8833A"/>
                </a:solidFill>
                <a:latin typeface="Calibri"/>
              </a:rPr>
              <a:t>•  </a:t>
            </a:r>
            <a:r>
              <a:rPr sz="1550" b="1" i="0">
                <a:solidFill>
                  <a:srgbClr val="C96A28"/>
                </a:solidFill>
                <a:latin typeface="Calibri"/>
              </a:rPr>
              <a:t>Not claimed to beat PPO; not compute-equivalent.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5440680"/>
            <a:ext cx="1076248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1">
                <a:solidFill>
                  <a:srgbClr val="6E7C84"/>
                </a:solidFill>
                <a:latin typeface="Calibri"/>
              </a:rPr>
              <a:t>Treated strictly as a 400K best-checkpoint result — the conservative reading of the evidence.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833A"/>
                </a:solidFill>
                <a:latin typeface="Calibri"/>
              </a:rPr>
              <a:t>PRIMARY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758952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mbria"/>
              </a:rPr>
              <a:t>Headline raw-reward comparison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828800"/>
            <a:ext cx="5120640" cy="1207008"/>
          </a:xfrm>
          <a:prstGeom prst="roundRect">
            <a:avLst>
              <a:gd name="adj" fmla="val 7000"/>
            </a:avLst>
          </a:prstGeom>
          <a:solidFill>
            <a:srgbClr val="1B3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32688" y="2276856"/>
            <a:ext cx="310896" cy="310896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89888" y="1975104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FE3E6"/>
                </a:solidFill>
                <a:latin typeface="Calibri"/>
              </a:rPr>
              <a:t>PPO  @ 500K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1965960"/>
            <a:ext cx="1737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0E7C86"/>
                </a:solidFill>
                <a:latin typeface="Calibri"/>
              </a:rPr>
              <a:t>COMPLETED 500K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9888" y="2304288"/>
            <a:ext cx="4297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FFFFFF"/>
                </a:solidFill>
                <a:latin typeface="Cambria"/>
              </a:rPr>
              <a:t>938.87</a:t>
            </a:r>
            <a:r>
              <a:rPr sz="1500" b="0" i="0">
                <a:solidFill>
                  <a:srgbClr val="CFE3E6"/>
                </a:solidFill>
                <a:latin typeface="Calibri"/>
              </a:rPr>
              <a:t>  ± 7.86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3200400"/>
            <a:ext cx="5120640" cy="1207008"/>
          </a:xfrm>
          <a:prstGeom prst="roundRect">
            <a:avLst>
              <a:gd name="adj" fmla="val 7000"/>
            </a:avLst>
          </a:prstGeom>
          <a:solidFill>
            <a:srgbClr val="1B3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932688" y="3648456"/>
            <a:ext cx="310896" cy="310896"/>
          </a:xfrm>
          <a:prstGeom prst="ellipse">
            <a:avLst/>
          </a:prstGeom>
          <a:solidFill>
            <a:srgbClr val="2A9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389888" y="3346704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FE3E6"/>
                </a:solidFill>
                <a:latin typeface="Calibri"/>
              </a:rPr>
              <a:t>PPO  best @ 480K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3337560"/>
            <a:ext cx="1737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A9DA8"/>
                </a:solidFill>
                <a:latin typeface="Calibri"/>
              </a:rPr>
              <a:t>BEST PARSED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3675887"/>
            <a:ext cx="4297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FFFFFF"/>
                </a:solidFill>
                <a:latin typeface="Cambria"/>
              </a:rPr>
              <a:t>939.53</a:t>
            </a:r>
            <a:r>
              <a:rPr sz="1500" b="0" i="0">
                <a:solidFill>
                  <a:srgbClr val="CFE3E6"/>
                </a:solidFill>
                <a:latin typeface="Calibri"/>
              </a:rPr>
              <a:t>  ± 4.09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4572000"/>
            <a:ext cx="5120640" cy="1207008"/>
          </a:xfrm>
          <a:prstGeom prst="roundRect">
            <a:avLst>
              <a:gd name="adj" fmla="val 7000"/>
            </a:avLst>
          </a:prstGeom>
          <a:solidFill>
            <a:srgbClr val="1B3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932688" y="5020056"/>
            <a:ext cx="310896" cy="310896"/>
          </a:xfrm>
          <a:prstGeom prst="ellipse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89888" y="4718304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FE3E6"/>
                </a:solidFill>
                <a:latin typeface="Calibri"/>
              </a:rPr>
              <a:t>SAC  @ 400K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77639" y="4709160"/>
            <a:ext cx="1737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E8833A"/>
                </a:solidFill>
                <a:latin typeface="Calibri"/>
              </a:rPr>
              <a:t>PARTIAL 400K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5047488"/>
            <a:ext cx="4297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FFFFFF"/>
                </a:solidFill>
                <a:latin typeface="Cambria"/>
              </a:rPr>
              <a:t>938.51</a:t>
            </a:r>
            <a:r>
              <a:rPr sz="1500" b="0" i="0">
                <a:solidFill>
                  <a:srgbClr val="CFE3E6"/>
                </a:solidFill>
                <a:latin typeface="Calibri"/>
              </a:rPr>
              <a:t>  ± 4.88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0760" y="1828800"/>
            <a:ext cx="5394960" cy="4069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deck_trai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270582"/>
            <a:ext cx="5029200" cy="286547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80760" y="6016752"/>
            <a:ext cx="5394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CFE3E6"/>
                </a:solidFill>
                <a:latin typeface="Calibri"/>
              </a:rPr>
              <a:t>Raw eval reward vs training steps (from log checkpoints).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5989320"/>
            <a:ext cx="5120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1">
                <a:solidFill>
                  <a:srgbClr val="CFE3E6"/>
                </a:solidFill>
                <a:latin typeface="Calibri"/>
              </a:rPr>
              <a:t>Raw reward is the headline metric. PPO and SAC are not a compute-equivalent comparison.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833A"/>
                </a:solidFill>
                <a:latin typeface="Calibri"/>
              </a:rPr>
              <a:t>SECONDARY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758952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14303A"/>
                </a:solidFill>
                <a:latin typeface="Cambria"/>
              </a:rPr>
              <a:t>Generalization across seed sets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0" y="1965960"/>
            <a:ext cx="5532120" cy="3703320"/>
          </a:xfrm>
          <a:prstGeom prst="roundRect">
            <a:avLst>
              <a:gd name="adj" fmla="val 4000"/>
            </a:avLst>
          </a:prstGeom>
          <a:solidFill>
            <a:srgbClr val="F3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deck_general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2319758"/>
            <a:ext cx="5257800" cy="299572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8" y="2240280"/>
            <a:ext cx="493776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300"/>
              </a:spcAft>
            </a:pPr>
            <a:r>
              <a:rPr sz="1600" b="1" i="0">
                <a:solidFill>
                  <a:srgbClr val="0E7C86"/>
                </a:solidFill>
                <a:latin typeface="Calibri"/>
              </a:rPr>
              <a:t>Fixed</a:t>
            </a:r>
            <a:r>
              <a:rPr sz="1600" b="0" i="0">
                <a:solidFill>
                  <a:srgbClr val="14303A"/>
                </a:solidFill>
                <a:latin typeface="Calibri"/>
              </a:rPr>
              <a:t> and </a:t>
            </a:r>
            <a:r>
              <a:rPr sz="1600" b="1" i="0">
                <a:solidFill>
                  <a:srgbClr val="0E7C86"/>
                </a:solidFill>
                <a:latin typeface="Calibri"/>
              </a:rPr>
              <a:t>randomized</a:t>
            </a:r>
            <a:r>
              <a:rPr sz="1600" b="0" i="0">
                <a:solidFill>
                  <a:srgbClr val="14303A"/>
                </a:solidFill>
                <a:latin typeface="Calibri"/>
              </a:rPr>
              <a:t> multi-seed sets, plus a bootstrap 95% CI.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300"/>
              </a:spcAft>
            </a:pPr>
            <a:r>
              <a:rPr sz="1500" b="0" i="0">
                <a:solidFill>
                  <a:srgbClr val="14303A"/>
                </a:solidFill>
                <a:latin typeface="Calibri"/>
              </a:rPr>
              <a:t>Both branches land in the mid-920s on held-out seeds — a few points below the best single checkpoints.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300"/>
              </a:spcAft>
            </a:pPr>
            <a:r>
              <a:rPr sz="1500" b="0" i="0">
                <a:solidFill>
                  <a:srgbClr val="14303A"/>
                </a:solidFill>
                <a:latin typeface="Calibri"/>
              </a:rPr>
              <a:t>Narrow confidence intervals → the mean behavior is stable even as individual seeds vary.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5532120"/>
            <a:ext cx="50292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6E7C84"/>
                </a:solidFill>
                <a:latin typeface="Calibri"/>
              </a:rPr>
              <a:t>Secondary notebook-output evidence — distinct from the log-validated headline metrics.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13232" y="47548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833A"/>
                </a:solidFill>
                <a:latin typeface="Calibri"/>
              </a:rPr>
              <a:t>HONEST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758952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14303A"/>
                </a:solidFill>
                <a:latin typeface="Cambria"/>
              </a:rPr>
              <a:t>Limitations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965960"/>
            <a:ext cx="3429000" cy="1828800"/>
          </a:xfrm>
          <a:prstGeom prst="roundRect">
            <a:avLst>
              <a:gd name="adj" fmla="val 7000"/>
            </a:avLst>
          </a:prstGeom>
          <a:solidFill>
            <a:srgbClr val="F3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50976" y="2203704"/>
            <a:ext cx="384048" cy="384048"/>
          </a:xfrm>
          <a:prstGeom prst="ellipse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50976" y="2249424"/>
            <a:ext cx="38404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0472" y="2240279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4303A"/>
                </a:solidFill>
                <a:latin typeface="Cambria"/>
              </a:rPr>
              <a:t>SAC is partial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2834639"/>
            <a:ext cx="29718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E7C84"/>
                </a:solidFill>
                <a:latin typeface="Calibri"/>
              </a:rPr>
              <a:t>400K best checkpoint — not 500K, not compute-equivalent, not claimed to beat PPO.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965960"/>
            <a:ext cx="3429000" cy="1828800"/>
          </a:xfrm>
          <a:prstGeom prst="roundRect">
            <a:avLst>
              <a:gd name="adj" fmla="val 7000"/>
            </a:avLst>
          </a:prstGeom>
          <a:solidFill>
            <a:srgbClr val="F3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608576" y="2203704"/>
            <a:ext cx="384048" cy="384048"/>
          </a:xfrm>
          <a:prstGeom prst="ellipse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08576" y="2249424"/>
            <a:ext cx="38404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48072" y="2240279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4303A"/>
                </a:solidFill>
                <a:latin typeface="Cambria"/>
              </a:rPr>
              <a:t>No pixel baseline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2834639"/>
            <a:ext cx="29718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E7C84"/>
                </a:solidFill>
                <a:latin typeface="Calibri"/>
              </a:rPr>
              <a:t>No raw-image CNN policy was trained, so there is no head-to-head pixel comparison.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1" y="1965960"/>
            <a:ext cx="3429000" cy="1828800"/>
          </a:xfrm>
          <a:prstGeom prst="roundRect">
            <a:avLst>
              <a:gd name="adj" fmla="val 7000"/>
            </a:avLst>
          </a:prstGeom>
          <a:solidFill>
            <a:srgbClr val="F3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266175" y="2203704"/>
            <a:ext cx="384048" cy="384048"/>
          </a:xfrm>
          <a:prstGeom prst="ellipse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66175" y="2249424"/>
            <a:ext cx="38404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05672" y="2240279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4303A"/>
                </a:solidFill>
                <a:latin typeface="Cambria"/>
              </a:rPr>
              <a:t>Appearance-sensitive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4463" y="2834639"/>
            <a:ext cx="29718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E7C84"/>
                </a:solidFill>
                <a:latin typeface="Calibri"/>
              </a:rPr>
              <a:t>HSV masking can degrade under rendering or track-art changes.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977639"/>
            <a:ext cx="3429000" cy="1828800"/>
          </a:xfrm>
          <a:prstGeom prst="roundRect">
            <a:avLst>
              <a:gd name="adj" fmla="val 7000"/>
            </a:avLst>
          </a:prstGeom>
          <a:solidFill>
            <a:srgbClr val="F3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950976" y="4215383"/>
            <a:ext cx="384048" cy="384048"/>
          </a:xfrm>
          <a:prstGeom prst="ellipse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50976" y="4261103"/>
            <a:ext cx="38404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90472" y="4251959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4303A"/>
                </a:solidFill>
                <a:latin typeface="Cambria"/>
              </a:rPr>
              <a:t>Heavy-tailed failures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" y="4846320"/>
            <a:ext cx="2971800" cy="9015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sz="1250" b="0" i="0">
                <a:solidFill>
                  <a:srgbClr val="6E7C84"/>
                </a:solidFill>
                <a:latin typeface="Calibri"/>
              </a:rPr>
              <a:t>Qualitative limitation clips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sz="1250" b="0" i="0">
                <a:solidFill>
                  <a:srgbClr val="6E7C84"/>
                </a:solidFill>
                <a:latin typeface="Calibri"/>
              </a:rPr>
              <a:t>Some high-reward episodes still show unstable recovery, brief off-road drift, or sharp-turn weakness.</a:t>
            </a:r>
            <a:endParaRPr sz="1250" b="0" i="0">
              <a:solidFill>
                <a:srgbClr val="6E7C84"/>
              </a:solidFill>
              <a:latin typeface="Calibri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4370832" y="3977639"/>
            <a:ext cx="3429000" cy="1828800"/>
          </a:xfrm>
          <a:prstGeom prst="roundRect">
            <a:avLst>
              <a:gd name="adj" fmla="val 7000"/>
            </a:avLst>
          </a:prstGeom>
          <a:solidFill>
            <a:srgbClr val="F3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4608576" y="4215383"/>
            <a:ext cx="384048" cy="384048"/>
          </a:xfrm>
          <a:prstGeom prst="ellipse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608576" y="4261103"/>
            <a:ext cx="38404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!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48072" y="4251959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4303A"/>
                </a:solidFill>
                <a:latin typeface="Cambria"/>
              </a:rPr>
              <a:t>Not “solved”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26864" y="4846320"/>
            <a:ext cx="29718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E7C84"/>
                </a:solidFill>
                <a:latin typeface="Calibri"/>
              </a:rPr>
              <a:t>CarRacing-v3 is not claimed solved; promising, not uniformly robust.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28431" y="3977639"/>
            <a:ext cx="3429000" cy="1828800"/>
          </a:xfrm>
          <a:prstGeom prst="roundRect">
            <a:avLst>
              <a:gd name="adj" fmla="val 7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75320" y="4206240"/>
            <a:ext cx="2971800" cy="1463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Reported as multi-seed statistics — never a single best episode.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833A"/>
                </a:solidFill>
                <a:latin typeface="Calibri"/>
              </a:rP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1325880"/>
            <a:ext cx="106070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FFFFFF"/>
                </a:solidFill>
                <a:latin typeface="Cambria"/>
              </a:rPr>
              <a:t>A compact visual feature that two RL methods can drive on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788920"/>
            <a:ext cx="475488" cy="475488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2862072"/>
            <a:ext cx="4754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770632"/>
            <a:ext cx="9692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mbria"/>
              </a:rPr>
              <a:t>Perception is the contribution  —  </a:t>
            </a:r>
            <a:r>
              <a:rPr sz="1500" b="0" i="0">
                <a:solidFill>
                  <a:srgbClr val="CFE3E6"/>
                </a:solidFill>
                <a:latin typeface="Calibri"/>
              </a:rPr>
              <a:t>a deterministic HSV-mask + ray pipeline turns pixels into a 16-D / 64-D feature.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3657600"/>
            <a:ext cx="475488" cy="475488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3730752"/>
            <a:ext cx="4754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36192" y="3639312"/>
            <a:ext cx="9692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mbria"/>
              </a:rPr>
              <a:t>Shared, learner-agnostic  —  </a:t>
            </a:r>
            <a:r>
              <a:rPr sz="1500" b="0" i="0">
                <a:solidFill>
                  <a:srgbClr val="CFE3E6"/>
                </a:solidFill>
                <a:latin typeface="Calibri"/>
              </a:rPr>
              <a:t>PPO (938.87 @500K) and SAC (938.51 @400K) reach the same band on the same features.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4526279"/>
            <a:ext cx="475488" cy="475488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4599431"/>
            <a:ext cx="4754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6192" y="4507992"/>
            <a:ext cx="9692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mbria"/>
              </a:rPr>
              <a:t>Honest and reproducible  —  </a:t>
            </a:r>
            <a:r>
              <a:rPr sz="1500" b="0" i="0">
                <a:solidFill>
                  <a:srgbClr val="CFE3E6"/>
                </a:solidFill>
                <a:latin typeface="Calibri"/>
              </a:rPr>
              <a:t>conservative claims, log-parsed metrics, saved artifacts — no retraining to verify.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5669280"/>
            <a:ext cx="10469880" cy="868680"/>
          </a:xfrm>
          <a:prstGeom prst="roundRect">
            <a:avLst>
              <a:gd name="adj" fmla="val 10000"/>
            </a:avLst>
          </a:prstGeom>
          <a:solidFill>
            <a:srgbClr val="1B3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43000" y="5853327"/>
            <a:ext cx="7955279" cy="50058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500" b="1" i="0">
                <a:solidFill>
                  <a:srgbClr val="E8833A"/>
                </a:solidFill>
                <a:latin typeface="Calibri"/>
              </a:rPr>
              <a:t>GitHub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500" b="1" i="0">
                <a:solidFill>
                  <a:srgbClr val="E8833A"/>
                </a:solidFill>
                <a:latin typeface="Calibri"/>
              </a:rPr>
              <a:t>https://github.com/UltraLamb/Image-Processing-Project</a:t>
            </a:r>
            <a:endParaRPr sz="1150" b="0" i="1" dirty="0">
              <a:solidFill>
                <a:srgbClr val="CFE3E6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052560" y="5669280"/>
            <a:ext cx="21031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 dirty="0">
                <a:solidFill>
                  <a:srgbClr val="FFFFFF"/>
                </a:solidFill>
                <a:latin typeface="Calibri"/>
              </a:rPr>
              <a:t>Joe · 1103820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1010</Words>
  <Application>Microsoft Office PowerPoint</Application>
  <PresentationFormat>寬螢幕</PresentationFormat>
  <Paragraphs>141</Paragraphs>
  <Slides>15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15</vt:i4>
      </vt:variant>
    </vt:vector>
  </HeadingPairs>
  <TitlesOfParts>
    <vt:vector size="20" baseType="lpstr">
      <vt:lpstr>Arial</vt:lpstr>
      <vt:lpstr>Calibri</vt:lpstr>
      <vt:lpstr>Cambria</vt:lpstr>
      <vt:lpstr>Consolas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鄒貫宇</cp:lastModifiedBy>
  <cp:revision>4</cp:revision>
  <dcterms:created xsi:type="dcterms:W3CDTF">2013-01-27T09:14:16Z</dcterms:created>
  <dcterms:modified xsi:type="dcterms:W3CDTF">2026-06-27T10:41:12Z</dcterms:modified>
  <cp:category/>
</cp:coreProperties>
</file>